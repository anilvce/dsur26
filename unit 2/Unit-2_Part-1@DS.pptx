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70" r:id="rId7"/>
    <p:sldId id="271" r:id="rId8"/>
    <p:sldId id="260" r:id="rId9"/>
    <p:sldId id="272" r:id="rId10"/>
    <p:sldId id="273" r:id="rId11"/>
    <p:sldId id="261" r:id="rId12"/>
    <p:sldId id="262" r:id="rId13"/>
    <p:sldId id="274" r:id="rId14"/>
    <p:sldId id="275" r:id="rId15"/>
    <p:sldId id="263" r:id="rId16"/>
    <p:sldId id="264" r:id="rId17"/>
    <p:sldId id="265" r:id="rId18"/>
    <p:sldId id="266" r:id="rId19"/>
    <p:sldId id="276" r:id="rId20"/>
    <p:sldId id="277" r:id="rId21"/>
    <p:sldId id="278" r:id="rId22"/>
    <p:sldId id="279" r:id="rId23"/>
    <p:sldId id="267"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68" r:id="rId43"/>
    <p:sldId id="269"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95120" y="2533015"/>
            <a:ext cx="5953760" cy="1470025"/>
          </a:xfrm>
        </p:spPr>
        <p:txBody>
          <a:bodyPr/>
          <a:lstStyle/>
          <a:p>
            <a:r>
              <a:t>Exploring and Managing Data in R </a:t>
            </a:r>
          </a:p>
        </p:txBody>
      </p:sp>
      <p:sp>
        <p:nvSpPr>
          <p:cNvPr id="3" name="Subtitle 2"/>
          <p:cNvSpPr>
            <a:spLocks noGrp="1"/>
          </p:cNvSpPr>
          <p:nvPr>
            <p:ph type="subTitle" idx="1"/>
          </p:nvPr>
        </p:nvSpPr>
        <p:spPr>
          <a:xfrm>
            <a:off x="1475740" y="1098550"/>
            <a:ext cx="6400800" cy="1752600"/>
          </a:xfrm>
        </p:spPr>
        <p:txBody>
          <a:bodyPr/>
          <a:lstStyle/>
          <a:p>
            <a:r>
              <a:rPr lang="en-US" sz="8000" b="1">
                <a:sym typeface="+mn-ea"/>
              </a:rPr>
              <a:t>UNIT-2</a:t>
            </a:r>
            <a:r>
              <a:rPr>
                <a:sym typeface="+mn-ea"/>
              </a:rPr>
              <a:t> </a:t>
            </a:r>
            <a:endParaRPr>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Table of Contents - Part 1</a:t>
            </a:r>
          </a:p>
        </p:txBody>
      </p:sp>
      <p:sp>
        <p:nvSpPr>
          <p:cNvPr id="3" name="Content Placeholder 2"/>
          <p:cNvSpPr>
            <a:spLocks noGrp="1"/>
          </p:cNvSpPr>
          <p:nvPr>
            <p:ph idx="1"/>
          </p:nvPr>
        </p:nvSpPr>
        <p:spPr/>
        <p:txBody>
          <a:bodyPr/>
          <a:lstStyle/>
          <a:p>
            <a:r>
              <a:rPr sz="2000"/>
              <a:t>1. Introduction to Data Exploration in R</a:t>
            </a:r>
            <a:endParaRPr sz="2000"/>
          </a:p>
          <a:p>
            <a:r>
              <a:rPr sz="2000"/>
              <a:t>2. Understanding Data Frames</a:t>
            </a:r>
            <a:endParaRPr sz="2000"/>
          </a:p>
          <a:p>
            <a:r>
              <a:rPr sz="2000"/>
              <a:t>3. Creating and Loading Data Frames</a:t>
            </a:r>
            <a:endParaRPr sz="2000"/>
          </a:p>
          <a:p>
            <a:r>
              <a:rPr sz="2000"/>
              <a:t>4. R Functions for Data Understanding</a:t>
            </a:r>
            <a:endParaRPr sz="2000"/>
          </a:p>
          <a:p>
            <a:r>
              <a:rPr sz="2000"/>
              <a:t>5. Exploring Data: Structure and Content</a:t>
            </a:r>
            <a:endParaRPr sz="2000"/>
          </a:p>
          <a:p>
            <a:r>
              <a:rPr sz="2000"/>
              <a:t>6. Summarizing Data</a:t>
            </a:r>
            <a:endParaRPr sz="2000"/>
          </a:p>
          <a:p>
            <a:r>
              <a:rPr sz="2000"/>
              <a:t>7. Handling Missing Values</a:t>
            </a:r>
            <a:endParaRPr sz="2000"/>
          </a:p>
          <a:p>
            <a:r>
              <a:rPr sz="2000"/>
              <a:t>8. Invalid Values and Outliers</a:t>
            </a:r>
            <a:endParaRPr sz="2000"/>
          </a:p>
          <a:p>
            <a:r>
              <a:rPr sz="2000"/>
              <a:t>9. Descriptive Statistics</a:t>
            </a:r>
            <a:endParaRPr sz="2000"/>
          </a:p>
          <a:p>
            <a:r>
              <a:rPr sz="2000"/>
              <a:t>10. Data Visualization for Spotting Problems</a:t>
            </a:r>
            <a:endParaRPr sz="2000"/>
          </a:p>
          <a:p>
            <a:r>
              <a:rPr sz="2000"/>
              <a:t>11. Using ggplot2 for Visualization</a:t>
            </a:r>
            <a:endParaRPr sz="2000"/>
          </a:p>
          <a:p>
            <a:r>
              <a:rPr sz="2000"/>
              <a:t>12. Dealing with Data Types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Introduction to Data Exploration in R</a:t>
            </a:r>
          </a:p>
        </p:txBody>
      </p:sp>
      <p:sp>
        <p:nvSpPr>
          <p:cNvPr id="3" name="Content Placeholder 2"/>
          <p:cNvSpPr>
            <a:spLocks noGrp="1"/>
          </p:cNvSpPr>
          <p:nvPr>
            <p:ph idx="1"/>
          </p:nvPr>
        </p:nvSpPr>
        <p:spPr/>
        <p:txBody>
          <a:bodyPr/>
          <a:lstStyle/>
          <a:p>
            <a:r>
              <a:t>Data exploration helps understand the structure, trends, missing values, and patterns in the dataset.</a:t>
            </a:r>
          </a:p>
          <a:p/>
          <a:p>
            <a:r>
              <a:t>Example:</a:t>
            </a:r>
          </a:p>
          <a:p>
            <a:r>
              <a:t>Use the iris dataset: data(iris)</a:t>
            </a:r>
          </a:p>
          <a:p>
            <a:r>
              <a:t>View summary: summary(iris)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Understanding Data Frames</a:t>
            </a:r>
          </a:p>
        </p:txBody>
      </p:sp>
      <p:sp>
        <p:nvSpPr>
          <p:cNvPr id="3" name="Content Placeholder 2"/>
          <p:cNvSpPr>
            <a:spLocks noGrp="1"/>
          </p:cNvSpPr>
          <p:nvPr>
            <p:ph idx="1"/>
          </p:nvPr>
        </p:nvSpPr>
        <p:spPr/>
        <p:txBody>
          <a:bodyPr>
            <a:normAutofit fontScale="70000"/>
          </a:bodyPr>
          <a:lstStyle/>
          <a:p>
            <a:r>
              <a:t>Data frames are tabular data structures.</a:t>
            </a:r>
          </a:p>
          <a:p>
            <a:r>
              <a:t>They can store heterogeneous data types.</a:t>
            </a:r>
          </a:p>
          <a:p>
            <a:r>
              <a:rPr lang="en-US" altLang="en-US"/>
              <a:t>Data Frames can have different types of data inside it. While the first column can be character, the second and third can be numeric or logical. However, each column should have the same type of data.</a:t>
            </a:r>
            <a:endParaRPr lang="en-US" altLang="en-US"/>
          </a:p>
          <a:p>
            <a:r>
              <a:rPr lang="en-US" altLang="en-US"/>
              <a:t>Use the data.frame() function to create a data frame:</a:t>
            </a:r>
            <a:endParaRPr lang="en-US" altLang="en-US"/>
          </a:p>
          <a:p/>
          <a:p>
            <a:r>
              <a:t>Example:</a:t>
            </a:r>
          </a:p>
          <a:p>
            <a:r>
              <a:t>df &lt;- data.frame(Name=c('A', 'B'), Age=c(21, 22))</a:t>
            </a:r>
          </a:p>
          <a:p>
            <a:r>
              <a:t>str(df) shows 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822325" y="850900"/>
            <a:ext cx="7036435" cy="2924810"/>
          </a:xfrm>
          <a:prstGeom prst="rect">
            <a:avLst/>
          </a:prstGeom>
        </p:spPr>
      </p:pic>
      <p:pic>
        <p:nvPicPr>
          <p:cNvPr id="5" name="Picture 4"/>
          <p:cNvPicPr>
            <a:picLocks noChangeAspect="1"/>
          </p:cNvPicPr>
          <p:nvPr/>
        </p:nvPicPr>
        <p:blipFill>
          <a:blip r:embed="rId2"/>
          <a:stretch>
            <a:fillRect/>
          </a:stretch>
        </p:blipFill>
        <p:spPr>
          <a:xfrm>
            <a:off x="1009650" y="4398010"/>
            <a:ext cx="6557645" cy="2178050"/>
          </a:xfrm>
          <a:prstGeom prst="rect">
            <a:avLst/>
          </a:prstGeom>
        </p:spPr>
      </p:pic>
      <p:sp>
        <p:nvSpPr>
          <p:cNvPr id="6" name="Text Box 5"/>
          <p:cNvSpPr txBox="1"/>
          <p:nvPr/>
        </p:nvSpPr>
        <p:spPr>
          <a:xfrm>
            <a:off x="784860" y="327660"/>
            <a:ext cx="4323080" cy="583565"/>
          </a:xfrm>
          <a:prstGeom prst="rect">
            <a:avLst/>
          </a:prstGeom>
          <a:noFill/>
        </p:spPr>
        <p:txBody>
          <a:bodyPr wrap="square" rtlCol="0">
            <a:spAutoFit/>
          </a:bodyPr>
          <a:p>
            <a:r>
              <a:rPr lang="en-US" sz="3200" b="1"/>
              <a:t>Data Frame Code</a:t>
            </a:r>
            <a:r>
              <a:rPr lang="en-US"/>
              <a:t>:</a:t>
            </a:r>
            <a:endParaRPr lang="en-US"/>
          </a:p>
        </p:txBody>
      </p:sp>
      <p:sp>
        <p:nvSpPr>
          <p:cNvPr id="7" name="Text Box 6"/>
          <p:cNvSpPr txBox="1"/>
          <p:nvPr/>
        </p:nvSpPr>
        <p:spPr>
          <a:xfrm>
            <a:off x="829310" y="3756660"/>
            <a:ext cx="3235325" cy="521970"/>
          </a:xfrm>
          <a:prstGeom prst="rect">
            <a:avLst/>
          </a:prstGeom>
          <a:noFill/>
        </p:spPr>
        <p:txBody>
          <a:bodyPr wrap="square" rtlCol="0">
            <a:spAutoFit/>
          </a:bodyPr>
          <a:p>
            <a:r>
              <a:rPr lang="en-US" sz="2800" b="1"/>
              <a:t>Output:</a:t>
            </a:r>
            <a:endParaRPr lang="en-US" sz="28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Other DataFrame commands</a:t>
            </a:r>
            <a:endParaRPr lang="en-US"/>
          </a:p>
        </p:txBody>
      </p:sp>
      <p:sp>
        <p:nvSpPr>
          <p:cNvPr id="3" name="Content Placeholder 2"/>
          <p:cNvSpPr>
            <a:spLocks noGrp="1"/>
          </p:cNvSpPr>
          <p:nvPr>
            <p:ph idx="1"/>
          </p:nvPr>
        </p:nvSpPr>
        <p:spPr/>
        <p:txBody>
          <a:bodyPr>
            <a:normAutofit fontScale="90000" lnSpcReduction="20000"/>
          </a:bodyPr>
          <a:p>
            <a:r>
              <a:rPr lang="en-US"/>
              <a:t>summarize the Data--summary(Data_Frame)</a:t>
            </a:r>
            <a:endParaRPr lang="en-US"/>
          </a:p>
          <a:p>
            <a:r>
              <a:rPr lang="en-US"/>
              <a:t>Access Items--DataFrame[[“Training”]] or DataFrame[1] or Data_Frame$Training</a:t>
            </a:r>
            <a:endParaRPr lang="en-US"/>
          </a:p>
          <a:p>
            <a:r>
              <a:rPr lang="en-US"/>
              <a:t>Add Rows--New&lt;-rbind(Data_Frame,c(“Strength”,110,110)</a:t>
            </a:r>
            <a:endParaRPr lang="en-US"/>
          </a:p>
          <a:p>
            <a:r>
              <a:rPr lang="en-US"/>
              <a:t>Add Columns--cbind()</a:t>
            </a:r>
            <a:endParaRPr lang="en-US"/>
          </a:p>
          <a:p>
            <a:r>
              <a:rPr lang="en-US"/>
              <a:t>Data Frame length--length(Data_frame)</a:t>
            </a:r>
            <a:endParaRPr lang="en-US"/>
          </a:p>
          <a:p>
            <a:r>
              <a:rPr lang="en-US"/>
              <a:t>Combining Data Frames--rbind() &amp; cbind()</a:t>
            </a:r>
            <a:endParaRPr lang="en-US"/>
          </a:p>
          <a:p>
            <a:r>
              <a:rPr lang="en-US"/>
              <a:t>refer </a:t>
            </a:r>
            <a:r>
              <a:rPr lang="en-US" altLang="en-US"/>
              <a:t>https://www.w3schools.com/r/r_data_frames.asp</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Creating and Loading Data Frames</a:t>
            </a:r>
          </a:p>
        </p:txBody>
      </p:sp>
      <p:sp>
        <p:nvSpPr>
          <p:cNvPr id="3" name="Content Placeholder 2"/>
          <p:cNvSpPr>
            <a:spLocks noGrp="1"/>
          </p:cNvSpPr>
          <p:nvPr>
            <p:ph idx="1"/>
          </p:nvPr>
        </p:nvSpPr>
        <p:spPr/>
        <p:txBody>
          <a:bodyPr>
            <a:noAutofit/>
          </a:bodyPr>
          <a:lstStyle/>
          <a:p>
            <a:r>
              <a:rPr sz="2700"/>
              <a:t>Create: df &lt;- data.frame(id=1:3, name=c('A','B','C'))</a:t>
            </a:r>
            <a:endParaRPr sz="2700"/>
          </a:p>
          <a:p>
            <a:r>
              <a:rPr lang="en-US" sz="2700"/>
              <a:t>refer </a:t>
            </a:r>
            <a:r>
              <a:rPr lang="en-US" altLang="en-US" sz="2700"/>
              <a:t>https://www.geeksforgeeks.org/pandas/creating-a-pandas-dataframe/</a:t>
            </a:r>
            <a:endParaRPr lang="en-US" altLang="en-US" sz="2700"/>
          </a:p>
          <a:p>
            <a:endParaRPr lang="en-US" altLang="en-US" sz="2700"/>
          </a:p>
          <a:p>
            <a:r>
              <a:rPr sz="2700"/>
              <a:t>Load from CSV:</a:t>
            </a:r>
            <a:endParaRPr sz="2700"/>
          </a:p>
          <a:p>
            <a:r>
              <a:rPr sz="2700"/>
              <a:t>df &lt;- read.csv('file.csv')</a:t>
            </a:r>
            <a:endParaRPr sz="2700"/>
          </a:p>
          <a:p>
            <a:r>
              <a:rPr sz="2700"/>
              <a:t>Use head(df) to see the top rows</a:t>
            </a:r>
            <a:endParaRPr sz="2700"/>
          </a:p>
          <a:p>
            <a:r>
              <a:rPr lang="en-US" sz="2700"/>
              <a:t>Ex: </a:t>
            </a:r>
            <a:r>
              <a:rPr lang="en-US" altLang="en-US" sz="2700"/>
              <a:t># Load CSV file into a DataFrame</a:t>
            </a:r>
            <a:endParaRPr lang="en-US" altLang="en-US" sz="2700"/>
          </a:p>
          <a:p>
            <a:r>
              <a:rPr lang="en-US" altLang="en-US" sz="2700"/>
              <a:t>df = pd.read_csv("CardioGoodFitness.csv")</a:t>
            </a:r>
            <a:endParaRPr lang="en-US" altLang="en-US" sz="2700"/>
          </a:p>
          <a:p>
            <a:r>
              <a:rPr lang="en-US" altLang="en-US" sz="2700"/>
              <a:t>print(df.head())</a:t>
            </a:r>
            <a:endParaRPr lang="en-US" altLang="en-US" sz="2700"/>
          </a:p>
          <a:p>
            <a:pPr marL="0" indent="0">
              <a:buNone/>
            </a:pPr>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41605" y="275590"/>
            <a:ext cx="8988425" cy="6075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72415" y="128905"/>
            <a:ext cx="8617585" cy="63569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 Functions for Data Understanding</a:t>
            </a:r>
          </a:p>
        </p:txBody>
      </p:sp>
      <p:sp>
        <p:nvSpPr>
          <p:cNvPr id="3" name="Content Placeholder 2"/>
          <p:cNvSpPr>
            <a:spLocks noGrp="1"/>
          </p:cNvSpPr>
          <p:nvPr>
            <p:ph idx="1"/>
          </p:nvPr>
        </p:nvSpPr>
        <p:spPr/>
        <p:txBody>
          <a:bodyPr>
            <a:normAutofit fontScale="90000" lnSpcReduction="20000"/>
          </a:bodyPr>
          <a:lstStyle/>
          <a:p>
            <a:pPr marL="0" indent="0">
              <a:buNone/>
            </a:pPr>
            <a:r>
              <a:t>Common functions:</a:t>
            </a:r>
          </a:p>
          <a:p>
            <a:r>
              <a:rPr lang="en-US"/>
              <a:t>-data(df): loads the dataset</a:t>
            </a:r>
            <a:endParaRPr lang="en-US"/>
          </a:p>
          <a:p>
            <a:r>
              <a:t>- head(df): first few rows</a:t>
            </a:r>
          </a:p>
          <a:p>
            <a:r>
              <a:t>- str(df): structure</a:t>
            </a:r>
          </a:p>
          <a:p>
            <a:r>
              <a:t>- summary(df): statistical summary</a:t>
            </a:r>
          </a:p>
          <a:p>
            <a:pPr marL="0" indent="0">
              <a:buNone/>
            </a:pPr>
            <a:r>
              <a:rPr lang="en-US"/>
              <a:t>(df =dataset_name)</a:t>
            </a:r>
            <a:endParaRPr lang="en-US"/>
          </a:p>
          <a:p/>
          <a:p>
            <a:pPr marL="0" indent="0">
              <a:buNone/>
            </a:pPr>
            <a:r>
              <a:t>Example:</a:t>
            </a:r>
          </a:p>
          <a:p>
            <a:r>
              <a:t>summary(mtcars) gives stats for each column</a:t>
            </a:r>
          </a:p>
          <a:p>
            <a:r>
              <a:rPr lang="en-US"/>
              <a:t>head(mtcars) gives first few rows of mtcars dataset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Exploring Data: Structure and Content</a:t>
            </a:r>
          </a:p>
        </p:txBody>
      </p:sp>
      <p:sp>
        <p:nvSpPr>
          <p:cNvPr id="3" name="Content Placeholder 2"/>
          <p:cNvSpPr>
            <a:spLocks noGrp="1"/>
          </p:cNvSpPr>
          <p:nvPr>
            <p:ph idx="1"/>
          </p:nvPr>
        </p:nvSpPr>
        <p:spPr/>
        <p:txBody>
          <a:bodyPr/>
          <a:lstStyle/>
          <a:p>
            <a:r>
              <a:t>Structure: str(df)</a:t>
            </a:r>
          </a:p>
          <a:p>
            <a:r>
              <a:t>Dimensions: dim(df), nrow(df), ncol(df)</a:t>
            </a:r>
          </a:p>
          <a:p>
            <a:r>
              <a:t>Variable names: names(df)</a:t>
            </a:r>
          </a:p>
          <a:p/>
          <a:p>
            <a:r>
              <a:t>Example:</a:t>
            </a:r>
          </a:p>
          <a:p>
            <a:r>
              <a:t>df &lt;- mtcars</a:t>
            </a:r>
          </a:p>
          <a:p>
            <a:r>
              <a:t>str(df); names(df)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0200"/>
            <a:ext cx="8229600" cy="5796280"/>
          </a:xfrm>
        </p:spPr>
        <p:txBody>
          <a:bodyPr/>
          <a:p>
            <a:pPr marL="0" indent="0">
              <a:buNone/>
            </a:pPr>
            <a:r>
              <a:rPr lang="en-US" altLang="en-US"/>
              <a:t>sample example :</a:t>
            </a:r>
            <a:endParaRPr lang="en-US" altLang="en-US"/>
          </a:p>
          <a:p>
            <a:pPr marL="0" indent="0">
              <a:buNone/>
            </a:pPr>
            <a:r>
              <a:rPr lang="en-US" altLang="en-US"/>
              <a:t>df &lt;- data.frame(</a:t>
            </a:r>
            <a:endParaRPr lang="en-US" altLang="en-US"/>
          </a:p>
          <a:p>
            <a:pPr marL="0" indent="0">
              <a:buNone/>
            </a:pPr>
            <a:r>
              <a:rPr lang="en-US" altLang="en-US"/>
              <a:t>  Name = c("Alice", "Bob", "Charlie"),</a:t>
            </a:r>
            <a:endParaRPr lang="en-US" altLang="en-US"/>
          </a:p>
          <a:p>
            <a:pPr marL="0" indent="0">
              <a:buNone/>
            </a:pPr>
            <a:r>
              <a:rPr lang="en-US" altLang="en-US"/>
              <a:t>  Age = c(25, 30, 22),</a:t>
            </a:r>
            <a:endParaRPr lang="en-US" altLang="en-US"/>
          </a:p>
          <a:p>
            <a:pPr marL="0" indent="0">
              <a:buNone/>
            </a:pPr>
            <a:r>
              <a:rPr lang="en-US" altLang="en-US"/>
              <a:t>  Score = c(90, 85, 88)</a:t>
            </a:r>
            <a:endParaRPr lang="en-US" altLang="en-US"/>
          </a:p>
          <a:p>
            <a:pPr marL="0" indent="0">
              <a:buNone/>
            </a:pPr>
            <a:r>
              <a:rPr lang="en-US" altLang="en-US"/>
              <a:t>)</a:t>
            </a:r>
            <a:endParaRPr lang="en-US" altLang="en-US"/>
          </a:p>
          <a:p>
            <a:pPr marL="0" indent="0">
              <a:buNone/>
            </a:pPr>
            <a:endParaRPr lang="en-US" altLang="en-US"/>
          </a:p>
          <a:p>
            <a:pPr marL="0" indent="0">
              <a:buNone/>
            </a:pPr>
            <a:endParaRPr lang="en-US" altLang="en-US"/>
          </a:p>
        </p:txBody>
      </p:sp>
      <p:pic>
        <p:nvPicPr>
          <p:cNvPr id="4" name="Picture 3"/>
          <p:cNvPicPr>
            <a:picLocks noChangeAspect="1"/>
          </p:cNvPicPr>
          <p:nvPr/>
        </p:nvPicPr>
        <p:blipFill>
          <a:blip r:embed="rId1"/>
          <a:stretch>
            <a:fillRect/>
          </a:stretch>
        </p:blipFill>
        <p:spPr>
          <a:xfrm>
            <a:off x="457200" y="4009390"/>
            <a:ext cx="7145655" cy="2482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73380"/>
            <a:ext cx="8229600" cy="5753100"/>
          </a:xfrm>
        </p:spPr>
        <p:txBody>
          <a:bodyPr/>
          <a:p>
            <a:r>
              <a:rPr lang="en-US" altLang="en-US"/>
              <a:t>str(df) – Structure of the Data Frame</a:t>
            </a:r>
            <a:endParaRPr lang="en-US" altLang="en-US"/>
          </a:p>
          <a:p>
            <a:pPr marL="0" indent="0">
              <a:buNone/>
            </a:pPr>
            <a:r>
              <a:rPr lang="en-US" altLang="en-US"/>
              <a:t>outputs:</a:t>
            </a:r>
            <a:endParaRPr lang="en-US" altLang="en-US"/>
          </a:p>
          <a:p>
            <a:pPr marL="0" indent="0">
              <a:buNone/>
            </a:pPr>
            <a:endParaRPr lang="en-US" altLang="en-US"/>
          </a:p>
          <a:p>
            <a:pPr marL="0" indent="0">
              <a:buNone/>
            </a:pPr>
            <a:endParaRPr lang="en-US" altLang="en-US"/>
          </a:p>
          <a:p>
            <a:pPr marL="0" indent="0">
              <a:buNone/>
            </a:pPr>
            <a:r>
              <a:rPr lang="en-US" altLang="en-US"/>
              <a:t>(chr means character, num means numeric)</a:t>
            </a:r>
            <a:endParaRPr lang="en-US" altLang="en-US"/>
          </a:p>
          <a:p>
            <a:pPr>
              <a:buFont typeface="Arial" panose="020B0604020202020204" pitchFamily="34" charset="0"/>
              <a:buChar char="•"/>
            </a:pPr>
            <a:r>
              <a:rPr lang="en-US" altLang="en-US"/>
              <a:t>dim(df) – Get Dimensions--</a:t>
            </a:r>
            <a:endParaRPr lang="en-US" altLang="en-US"/>
          </a:p>
          <a:p>
            <a:pPr>
              <a:buFont typeface="Arial" panose="020B0604020202020204" pitchFamily="34" charset="0"/>
              <a:buChar char="•"/>
            </a:pPr>
            <a:r>
              <a:rPr lang="en-US" altLang="en-US"/>
              <a:t>nrow(df) – Number of Rows-- [1] 3</a:t>
            </a:r>
            <a:endParaRPr lang="en-US" altLang="en-US"/>
          </a:p>
          <a:p>
            <a:pPr>
              <a:buFont typeface="Arial" panose="020B0604020202020204" pitchFamily="34" charset="0"/>
              <a:buChar char="•"/>
            </a:pPr>
            <a:r>
              <a:rPr lang="en-US" altLang="en-US"/>
              <a:t>ncol(df) – Number of Columns--[1] 3</a:t>
            </a:r>
            <a:endParaRPr lang="en-US" altLang="en-US"/>
          </a:p>
          <a:p>
            <a:pPr>
              <a:buFont typeface="Arial" panose="020B0604020202020204" pitchFamily="34" charset="0"/>
              <a:buChar char="•"/>
            </a:pPr>
            <a:r>
              <a:rPr lang="en-US" altLang="en-US"/>
              <a:t>names(df) – Column Names--</a:t>
            </a:r>
            <a:endParaRPr lang="en-US" altLang="en-US"/>
          </a:p>
          <a:p>
            <a:pPr marL="0" indent="0">
              <a:buNone/>
            </a:pPr>
            <a:endParaRPr lang="en-US" altLang="en-US"/>
          </a:p>
          <a:p>
            <a:pPr marL="0" indent="0">
              <a:buNone/>
            </a:pPr>
            <a:endParaRPr lang="en-US" altLang="en-US"/>
          </a:p>
          <a:p>
            <a:pPr marL="0" indent="0">
              <a:buNone/>
            </a:pPr>
            <a:endParaRPr lang="en-US" altLang="en-US"/>
          </a:p>
        </p:txBody>
      </p:sp>
      <p:pic>
        <p:nvPicPr>
          <p:cNvPr id="4" name="Picture 3"/>
          <p:cNvPicPr>
            <a:picLocks noChangeAspect="1"/>
          </p:cNvPicPr>
          <p:nvPr/>
        </p:nvPicPr>
        <p:blipFill>
          <a:blip r:embed="rId1"/>
          <a:stretch>
            <a:fillRect/>
          </a:stretch>
        </p:blipFill>
        <p:spPr>
          <a:xfrm>
            <a:off x="457200" y="1556385"/>
            <a:ext cx="3635375" cy="1308100"/>
          </a:xfrm>
          <a:prstGeom prst="rect">
            <a:avLst/>
          </a:prstGeom>
        </p:spPr>
      </p:pic>
      <p:pic>
        <p:nvPicPr>
          <p:cNvPr id="6" name="Picture 5"/>
          <p:cNvPicPr>
            <a:picLocks noChangeAspect="1"/>
          </p:cNvPicPr>
          <p:nvPr/>
        </p:nvPicPr>
        <p:blipFill>
          <a:blip r:embed="rId2"/>
          <a:stretch>
            <a:fillRect/>
          </a:stretch>
        </p:blipFill>
        <p:spPr>
          <a:xfrm>
            <a:off x="5126990" y="3430270"/>
            <a:ext cx="1099185" cy="370840"/>
          </a:xfrm>
          <a:prstGeom prst="rect">
            <a:avLst/>
          </a:prstGeom>
        </p:spPr>
      </p:pic>
      <p:pic>
        <p:nvPicPr>
          <p:cNvPr id="7" name="Picture 6"/>
          <p:cNvPicPr>
            <a:picLocks noChangeAspect="1"/>
          </p:cNvPicPr>
          <p:nvPr/>
        </p:nvPicPr>
        <p:blipFill>
          <a:blip r:embed="rId3"/>
          <a:stretch>
            <a:fillRect/>
          </a:stretch>
        </p:blipFill>
        <p:spPr>
          <a:xfrm>
            <a:off x="5733415" y="5157470"/>
            <a:ext cx="2564765" cy="3644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Summarizing Data</a:t>
            </a:r>
          </a:p>
        </p:txBody>
      </p:sp>
      <p:sp>
        <p:nvSpPr>
          <p:cNvPr id="3" name="Content Placeholder 2"/>
          <p:cNvSpPr>
            <a:spLocks noGrp="1"/>
          </p:cNvSpPr>
          <p:nvPr>
            <p:ph idx="1"/>
          </p:nvPr>
        </p:nvSpPr>
        <p:spPr>
          <a:xfrm>
            <a:off x="457200" y="1165860"/>
            <a:ext cx="8229600" cy="4525963"/>
          </a:xfrm>
        </p:spPr>
        <p:txBody>
          <a:bodyPr>
            <a:normAutofit fontScale="70000"/>
          </a:bodyPr>
          <a:lstStyle/>
          <a:p>
            <a:r>
              <a:rPr lang="en-US" altLang="en-US" sz="3335"/>
              <a:t>Data summarization provides quick statistical insights into each variable — like minimum, maximum, mean, median, etc. It helps understand data distribution and identify potential anomalies.</a:t>
            </a:r>
            <a:endParaRPr lang="en-US" altLang="en-US" sz="3335"/>
          </a:p>
          <a:p>
            <a:r>
              <a:rPr sz="3335"/>
              <a:t>summary(): </a:t>
            </a:r>
            <a:r>
              <a:rPr lang="en-US" altLang="en-US" sz="3335"/>
              <a:t>Gives basic summary</a:t>
            </a:r>
            <a:endParaRPr lang="en-US" altLang="en-US" sz="3335"/>
          </a:p>
          <a:p>
            <a:pPr marL="0" indent="457200">
              <a:buNone/>
            </a:pPr>
            <a:r>
              <a:rPr lang="en-US" altLang="en-US" sz="3335"/>
              <a:t> statistics for each column</a:t>
            </a:r>
            <a:endParaRPr lang="en-US" altLang="en-US" sz="3335"/>
          </a:p>
          <a:p>
            <a:pPr marL="0" indent="457200">
              <a:buNone/>
            </a:pPr>
            <a:r>
              <a:rPr lang="en-US" altLang="en-US" sz="3335"/>
              <a:t>-</a:t>
            </a:r>
            <a:r>
              <a:rPr sz="3335"/>
              <a:t> mean, median, min, max</a:t>
            </a:r>
            <a:endParaRPr sz="3335"/>
          </a:p>
          <a:p>
            <a:endParaRPr sz="3335"/>
          </a:p>
          <a:p>
            <a:r>
              <a:rPr sz="3335"/>
              <a:t>sapply(df, mean):</a:t>
            </a:r>
            <a:endParaRPr sz="3335"/>
          </a:p>
          <a:p>
            <a:pPr marL="0" indent="457200">
              <a:buNone/>
            </a:pPr>
            <a:r>
              <a:rPr sz="3335"/>
              <a:t> mean for each column</a:t>
            </a:r>
            <a:endParaRPr sz="3335"/>
          </a:p>
          <a:p>
            <a:pPr marL="0" indent="0">
              <a:buNone/>
            </a:pPr>
            <a:r>
              <a:rPr sz="3335"/>
              <a:t>Example:</a:t>
            </a:r>
            <a:endParaRPr sz="3335"/>
          </a:p>
          <a:p>
            <a:r>
              <a:rPr sz="3335"/>
              <a:t>sapply(iris[,-5], mean)</a:t>
            </a:r>
            <a:endParaRPr sz="3335"/>
          </a:p>
        </p:txBody>
      </p:sp>
      <p:pic>
        <p:nvPicPr>
          <p:cNvPr id="4" name="Picture 3"/>
          <p:cNvPicPr>
            <a:picLocks noChangeAspect="1"/>
          </p:cNvPicPr>
          <p:nvPr/>
        </p:nvPicPr>
        <p:blipFill>
          <a:blip r:embed="rId1"/>
          <a:stretch>
            <a:fillRect/>
          </a:stretch>
        </p:blipFill>
        <p:spPr>
          <a:xfrm>
            <a:off x="4422775" y="2310130"/>
            <a:ext cx="4202430" cy="41421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Handling Missing Values</a:t>
            </a:r>
          </a:p>
        </p:txBody>
      </p:sp>
      <p:sp>
        <p:nvSpPr>
          <p:cNvPr id="3" name="Content Placeholder 2"/>
          <p:cNvSpPr>
            <a:spLocks noGrp="1"/>
          </p:cNvSpPr>
          <p:nvPr>
            <p:ph idx="1"/>
          </p:nvPr>
        </p:nvSpPr>
        <p:spPr/>
        <p:txBody>
          <a:bodyPr>
            <a:normAutofit fontScale="70000"/>
          </a:bodyPr>
          <a:lstStyle/>
          <a:p>
            <a:r>
              <a:rPr lang="en-US" altLang="en-US"/>
              <a:t>Missing data can skew analysis. R offers tools to detect, remove, or replace missing values (NA), allowing you to clean your dataset effectively.</a:t>
            </a:r>
            <a:endParaRPr lang="en-US" altLang="en-US"/>
          </a:p>
          <a:p>
            <a:r>
              <a:t>Detect NA: is.na(df)</a:t>
            </a:r>
            <a:r>
              <a:rPr lang="en-US"/>
              <a:t>--</a:t>
            </a:r>
            <a:r>
              <a:rPr lang="en-US" altLang="en-US"/>
              <a:t>Checks which elements are NA</a:t>
            </a:r>
            <a:endParaRPr lang="en-US" altLang="en-US"/>
          </a:p>
          <a:p>
            <a:r>
              <a:t>Remove NA: df &lt;- na.omit(df)</a:t>
            </a:r>
            <a:r>
              <a:rPr lang="en-US"/>
              <a:t>--</a:t>
            </a:r>
            <a:r>
              <a:rPr lang="en-US" altLang="en-US"/>
              <a:t>Removes rows with missing values.</a:t>
            </a:r>
            <a:endParaRPr lang="en-US" altLang="en-US"/>
          </a:p>
          <a:p>
            <a:r>
              <a:t>Fill NA: df[is.na(df)] &lt;- 0</a:t>
            </a:r>
            <a:r>
              <a:rPr lang="en-US"/>
              <a:t>--</a:t>
            </a:r>
            <a:r>
              <a:rPr lang="en-US" altLang="en-US"/>
              <a:t>Replace NA with value</a:t>
            </a:r>
            <a:endParaRPr lang="en-US" altLang="en-US"/>
          </a:p>
          <a:p/>
          <a:p>
            <a:pPr marL="0" indent="0">
              <a:buNone/>
            </a:pPr>
            <a:r>
              <a:t>Example:</a:t>
            </a:r>
          </a:p>
          <a:p>
            <a:r>
              <a:t>df &lt;- data.frame(x=c(1,NA,3)); na.omit(df)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Invalid Values and Outliers</a:t>
            </a:r>
          </a:p>
        </p:txBody>
      </p:sp>
      <p:sp>
        <p:nvSpPr>
          <p:cNvPr id="3" name="Content Placeholder 2"/>
          <p:cNvSpPr>
            <a:spLocks noGrp="1"/>
          </p:cNvSpPr>
          <p:nvPr>
            <p:ph idx="1"/>
          </p:nvPr>
        </p:nvSpPr>
        <p:spPr/>
        <p:txBody>
          <a:bodyPr>
            <a:normAutofit fontScale="80000"/>
          </a:bodyPr>
          <a:lstStyle/>
          <a:p>
            <a:pPr marL="0" indent="0">
              <a:buNone/>
            </a:pPr>
            <a:r>
              <a:rPr lang="en-US" altLang="en-US"/>
              <a:t>Outliers are extreme values that can distort analysis and model training. Detecting them ensures more accurate insights and better predictive performance.</a:t>
            </a:r>
            <a:endParaRPr lang="en-US" altLang="en-US"/>
          </a:p>
          <a:p>
            <a:r>
              <a:t>Outliers: boxplot(df$col)</a:t>
            </a:r>
            <a:r>
              <a:rPr lang="en-US"/>
              <a:t>--</a:t>
            </a:r>
            <a:r>
              <a:rPr lang="en-US" altLang="en-US"/>
              <a:t>Visually highlights outliers.</a:t>
            </a:r>
            <a:endParaRPr lang="en-US" altLang="en-US"/>
          </a:p>
          <a:p>
            <a:r>
              <a:t>Use IQR</a:t>
            </a:r>
            <a:r>
              <a:rPr lang="en-US"/>
              <a:t> Technique</a:t>
            </a:r>
            <a:r>
              <a:t> to detect:</a:t>
            </a:r>
            <a:r>
              <a:rPr lang="en-US"/>
              <a:t>(statistical Method)</a:t>
            </a:r>
            <a:endParaRPr lang="en-US"/>
          </a:p>
          <a:p>
            <a:pPr marL="0" indent="0">
              <a:buNone/>
            </a:pPr>
            <a:r>
              <a:t>Q1 &lt;- quantile(df$col, 0.25)</a:t>
            </a:r>
          </a:p>
          <a:p>
            <a:pPr marL="0" indent="0">
              <a:buNone/>
            </a:pPr>
            <a:r>
              <a:t>Q3 &lt;- quantile(df$col, 0.75)</a:t>
            </a:r>
          </a:p>
          <a:p>
            <a:pPr marL="0" indent="0">
              <a:buNone/>
            </a:pPr>
            <a:r>
              <a:t>IQR &lt;- Q3-Q1</a:t>
            </a:r>
          </a:p>
          <a:p>
            <a:pPr marL="0" indent="0">
              <a:buNone/>
            </a:pPr>
            <a:r>
              <a:t>Outliers: &lt;Q1-1.5*IQR or &gt;Q3+1.5*IQR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Descriptive Statistics</a:t>
            </a:r>
          </a:p>
        </p:txBody>
      </p:sp>
      <p:sp>
        <p:nvSpPr>
          <p:cNvPr id="3" name="Content Placeholder 2"/>
          <p:cNvSpPr>
            <a:spLocks noGrp="1"/>
          </p:cNvSpPr>
          <p:nvPr>
            <p:ph idx="1"/>
          </p:nvPr>
        </p:nvSpPr>
        <p:spPr/>
        <p:txBody>
          <a:bodyPr>
            <a:normAutofit fontScale="70000"/>
          </a:bodyPr>
          <a:lstStyle/>
          <a:p>
            <a:pPr marL="0" indent="0">
              <a:buNone/>
            </a:pPr>
            <a:r>
              <a:rPr lang="en-US" altLang="en-US"/>
              <a:t>Descriptive statistics summarize the central tendency, dispersion, and shape of a dataset’s distribution. In R, you can calculate mean, median, variance, standard deviation, and interquartile range (IQR) using simple functions.</a:t>
            </a:r>
            <a:endParaRPr lang="en-US" altLang="en-US"/>
          </a:p>
          <a:p>
            <a:r>
              <a:t>Mean: mean(df$col)</a:t>
            </a:r>
          </a:p>
          <a:p>
            <a:r>
              <a:t>Median: median(df$col)</a:t>
            </a:r>
          </a:p>
          <a:p>
            <a:r>
              <a:t>SD: sd(df$col)</a:t>
            </a:r>
          </a:p>
          <a:p/>
          <a:p>
            <a:pPr marL="0" indent="0">
              <a:buNone/>
            </a:pPr>
            <a:r>
              <a:t>Example:</a:t>
            </a:r>
          </a:p>
          <a:p>
            <a:r>
              <a:t>var(iris$Sepal.Length), IQR(iris$Sepal.Length)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Examples</a:t>
            </a:r>
            <a:endParaRPr lang="en-US"/>
          </a:p>
        </p:txBody>
      </p:sp>
      <p:sp>
        <p:nvSpPr>
          <p:cNvPr id="3" name="Content Placeholder 2"/>
          <p:cNvSpPr>
            <a:spLocks noGrp="1"/>
          </p:cNvSpPr>
          <p:nvPr>
            <p:ph idx="1"/>
          </p:nvPr>
        </p:nvSpPr>
        <p:spPr/>
        <p:txBody>
          <a:bodyPr>
            <a:normAutofit lnSpcReduction="20000"/>
          </a:bodyPr>
          <a:p>
            <a:pPr marL="0" indent="0">
              <a:buNone/>
            </a:pPr>
            <a:r>
              <a:rPr lang="en-US" b="1"/>
              <a:t>Input: </a:t>
            </a:r>
            <a:r>
              <a:rPr lang="en-US" altLang="en-US" b="1"/>
              <a:t>x &lt;- c(10, 20, 30, 40)</a:t>
            </a:r>
            <a:endParaRPr lang="en-US" altLang="en-US" b="1"/>
          </a:p>
          <a:p>
            <a:pPr marL="0" indent="0">
              <a:buNone/>
            </a:pPr>
            <a:r>
              <a:rPr lang="en-US" altLang="en-US"/>
              <a:t>1. mean(x)--Output: [1] 25</a:t>
            </a:r>
            <a:endParaRPr lang="en-US" altLang="en-US"/>
          </a:p>
          <a:p>
            <a:pPr marL="0" indent="0">
              <a:buNone/>
            </a:pPr>
            <a:r>
              <a:rPr lang="en-US" altLang="en-US"/>
              <a:t>2. median(x)--Output: [1] 25</a:t>
            </a:r>
            <a:endParaRPr lang="en-US" altLang="en-US"/>
          </a:p>
          <a:p>
            <a:pPr marL="0" indent="0">
              <a:buNone/>
            </a:pPr>
            <a:r>
              <a:rPr lang="en-US" altLang="en-US"/>
              <a:t>3. sd(x)--Output: [1] 12.91 (standard deviation)</a:t>
            </a:r>
            <a:endParaRPr lang="en-US" altLang="en-US"/>
          </a:p>
          <a:p>
            <a:pPr marL="0" indent="0">
              <a:buNone/>
            </a:pPr>
            <a:r>
              <a:rPr lang="en-US" altLang="en-US"/>
              <a:t>4. var(x)--Output: [1] 166.67 (Variance is the square of standard deviation)</a:t>
            </a:r>
            <a:endParaRPr lang="en-US" altLang="en-US"/>
          </a:p>
          <a:p>
            <a:pPr marL="0" indent="0">
              <a:buNone/>
            </a:pPr>
            <a:r>
              <a:rPr lang="en-US" altLang="en-US"/>
              <a:t>5. IQR(iris$Sepal.Length)--Output:[1] 1.3 ( It’s the range between the 25th and 75th percentile (Q3 - Q1).</a:t>
            </a:r>
            <a:endParaRPr lang="en-US" altLang="en-US"/>
          </a:p>
          <a:p>
            <a:pPr marL="0" indent="0">
              <a:buNone/>
            </a:pPr>
            <a:endParaRPr lang="en-US" altLang="en-US"/>
          </a:p>
          <a:p>
            <a:pPr marL="0" indent="0">
              <a:buNone/>
            </a:pPr>
            <a:endParaRPr lang="en-US" altLang="en-US"/>
          </a:p>
          <a:p>
            <a:pPr marL="0" indent="0">
              <a:buNone/>
            </a:pP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Spotting Problems in Data with Visualisation</a:t>
            </a:r>
            <a:endParaRPr lang="en-US" altLang="en-US"/>
          </a:p>
        </p:txBody>
      </p:sp>
      <p:sp>
        <p:nvSpPr>
          <p:cNvPr id="3" name="Content Placeholder 2"/>
          <p:cNvSpPr>
            <a:spLocks noGrp="1"/>
          </p:cNvSpPr>
          <p:nvPr>
            <p:ph idx="1"/>
          </p:nvPr>
        </p:nvSpPr>
        <p:spPr/>
        <p:txBody>
          <a:bodyPr>
            <a:normAutofit fontScale="70000"/>
          </a:bodyPr>
          <a:p>
            <a:r>
              <a:rPr lang="en-US" altLang="en-US"/>
              <a:t>Visualisation helps understand large datasets better than plain text or numbers.</a:t>
            </a:r>
            <a:endParaRPr lang="en-US" altLang="en-US"/>
          </a:p>
          <a:p>
            <a:r>
              <a:rPr lang="en-US" altLang="en-US"/>
              <a:t>·Graphs reveal peaks, sub-populations, and outliers in the data.</a:t>
            </a:r>
            <a:endParaRPr lang="en-US" altLang="en-US"/>
          </a:p>
          <a:p>
            <a:r>
              <a:rPr lang="en-US" altLang="en-US"/>
              <a:t> Example: A density plot of customer age can show which age group is most common.</a:t>
            </a:r>
            <a:endParaRPr lang="en-US" altLang="en-US"/>
          </a:p>
          <a:p>
            <a:r>
              <a:rPr lang="en-US" altLang="en-US"/>
              <a:t> It provides clarity by showing values from the lowest to the highest range.</a:t>
            </a:r>
            <a:endParaRPr lang="en-US" altLang="en-US"/>
          </a:p>
          <a:p>
            <a:r>
              <a:rPr lang="en-US" altLang="en-US"/>
              <a:t> Effective visualisation depends on correct aspect ratio and data scaling.</a:t>
            </a:r>
            <a:endParaRPr lang="en-US" altLang="en-US"/>
          </a:p>
          <a:p>
            <a:r>
              <a:rPr lang="en-US" altLang="en-US"/>
              <a:t> Enhances decision-making by presenting maximum information visually.</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Understanding Data Distribution Using R Visualisation</a:t>
            </a:r>
            <a:endParaRPr lang="en-US" altLang="en-US"/>
          </a:p>
        </p:txBody>
      </p:sp>
      <p:sp>
        <p:nvSpPr>
          <p:cNvPr id="3" name="Content Placeholder 2"/>
          <p:cNvSpPr>
            <a:spLocks noGrp="1"/>
          </p:cNvSpPr>
          <p:nvPr>
            <p:ph idx="1"/>
          </p:nvPr>
        </p:nvSpPr>
        <p:spPr/>
        <p:txBody>
          <a:bodyPr>
            <a:normAutofit fontScale="70000"/>
          </a:bodyPr>
          <a:p>
            <a:r>
              <a:rPr lang="en-US" altLang="en-US"/>
              <a:t>R visualisation helps identify distribution shape, peak values, and data spread.</a:t>
            </a:r>
            <a:endParaRPr lang="en-US" altLang="en-US"/>
          </a:p>
          <a:p>
            <a:r>
              <a:rPr lang="en-US" altLang="en-US"/>
              <a:t>Figures show unimodal (single peak) and bimodal (two peaks) distributions for age data.</a:t>
            </a:r>
            <a:endParaRPr lang="en-US" altLang="en-US"/>
          </a:p>
          <a:p>
            <a:r>
              <a:rPr lang="en-US" altLang="en-US"/>
              <a:t>Majority of customers fall in the 38–64 age range, with a mean age ~51.7.</a:t>
            </a:r>
            <a:endParaRPr lang="en-US" altLang="en-US"/>
          </a:p>
          <a:p>
            <a:r>
              <a:rPr lang="en-US" altLang="en-US"/>
              <a:t>Multimodal distributions suggest presence of distinct sub-groups in data (e.g., ages 20–30 and 70+).</a:t>
            </a:r>
            <a:endParaRPr lang="en-US" altLang="en-US"/>
          </a:p>
          <a:p>
            <a:r>
              <a:rPr lang="en-US" altLang="en-US"/>
              <a:t>Basic regression techniques (like linear/logistic) may not handle such complex distributions well.</a:t>
            </a:r>
            <a:endParaRPr lang="en-US" altLang="en-US"/>
          </a:p>
          <a:p>
            <a:r>
              <a:rPr lang="en-US" altLang="en-US"/>
              <a:t>Histograms are often preferred over density plots for clear and simple representation.</a:t>
            </a:r>
            <a:endParaRPr lang="en-US" altLang="en-US"/>
          </a:p>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27355" y="370205"/>
            <a:ext cx="8029575" cy="5867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Data Visualization for Spotting Problems</a:t>
            </a:r>
          </a:p>
        </p:txBody>
      </p:sp>
      <p:sp>
        <p:nvSpPr>
          <p:cNvPr id="3" name="Content Placeholder 2"/>
          <p:cNvSpPr>
            <a:spLocks noGrp="1"/>
          </p:cNvSpPr>
          <p:nvPr>
            <p:ph idx="1"/>
          </p:nvPr>
        </p:nvSpPr>
        <p:spPr/>
        <p:txBody>
          <a:bodyPr/>
          <a:lstStyle/>
          <a:p>
            <a:r>
              <a:t>Histograms: hist(df$col)</a:t>
            </a:r>
          </a:p>
          <a:p>
            <a:r>
              <a:rPr lang="en-US" altLang="en-US"/>
              <a:t>Density Plots</a:t>
            </a:r>
            <a:r>
              <a:t>: </a:t>
            </a:r>
            <a:r>
              <a:rPr lang="en-US" altLang="en-US"/>
              <a:t>plot(density(x)), where x is a numeric vector value.</a:t>
            </a:r>
            <a:endParaRPr lang="en-US" altLang="en-US"/>
          </a:p>
          <a:p>
            <a:r>
              <a:rPr lang="en-US" altLang="en-US"/>
              <a:t>Bar Charts</a:t>
            </a:r>
            <a:r>
              <a:t>: </a:t>
            </a:r>
            <a:r>
              <a:rPr lang="en-US" altLang="en-US"/>
              <a:t>barplot(H, xlab, ylab, main, names.arg, col)</a:t>
            </a:r>
            <a:endParaRPr lang="en-US" altLang="en-US"/>
          </a:p>
          <a:p>
            <a:r>
              <a:t>Example:</a:t>
            </a:r>
          </a:p>
          <a:p>
            <a:r>
              <a:t>hist(iris$Sepal.Width)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Histograms</a:t>
            </a:r>
            <a:endParaRPr lang="en-US" altLang="en-US"/>
          </a:p>
        </p:txBody>
      </p:sp>
      <p:sp>
        <p:nvSpPr>
          <p:cNvPr id="3" name="Content Placeholder 2"/>
          <p:cNvSpPr>
            <a:spLocks noGrp="1"/>
          </p:cNvSpPr>
          <p:nvPr>
            <p:ph idx="1"/>
          </p:nvPr>
        </p:nvSpPr>
        <p:spPr/>
        <p:txBody>
          <a:bodyPr>
            <a:normAutofit fontScale="70000"/>
          </a:bodyPr>
          <a:p>
            <a:r>
              <a:rPr lang="en-US" altLang="en-US"/>
              <a:t>A histogram shows how numerical data is distributed across equal intervals (or bins).</a:t>
            </a:r>
            <a:endParaRPr lang="en-US" altLang="en-US"/>
          </a:p>
          <a:p>
            <a:r>
              <a:rPr lang="en-US" altLang="en-US"/>
              <a:t>Unlike bar charts, histogram bars represent continuous data ranges.</a:t>
            </a:r>
            <a:endParaRPr lang="en-US" altLang="en-US"/>
          </a:p>
          <a:p>
            <a:r>
              <a:rPr lang="en-US" altLang="en-US"/>
              <a:t>Bar height = frequency of values in that interval.</a:t>
            </a:r>
            <a:endParaRPr lang="en-US" altLang="en-US"/>
          </a:p>
          <a:p>
            <a:r>
              <a:rPr lang="en-US" altLang="en-US"/>
              <a:t>In R, use the hist(x) function to create histograms for numeric vectors.</a:t>
            </a:r>
            <a:endParaRPr lang="en-US" altLang="en-US"/>
          </a:p>
          <a:p>
            <a:r>
              <a:rPr lang="en-US" altLang="en-US"/>
              <a:t>Full syntax: hist(v, main, xlab, xlim, ylim, breaks, col, border)</a:t>
            </a:r>
            <a:endParaRPr lang="en-US" altLang="en-US"/>
          </a:p>
          <a:p>
            <a:r>
              <a:rPr lang="en-US" altLang="en-US"/>
              <a:t>Key arguments define titles, axes, range, bin size, and color settings.</a:t>
            </a:r>
            <a:endParaRPr lang="en-US" altLang="en-US"/>
          </a:p>
          <a:p>
            <a:endParaRPr lang="en-US" altLang="en-US"/>
          </a:p>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07010" y="246380"/>
            <a:ext cx="8743950" cy="62807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02285" y="982345"/>
            <a:ext cx="7900035" cy="5638165"/>
          </a:xfrm>
          <a:prstGeom prst="rect">
            <a:avLst/>
          </a:prstGeom>
        </p:spPr>
      </p:pic>
      <p:sp>
        <p:nvSpPr>
          <p:cNvPr id="5" name="Text Box 4"/>
          <p:cNvSpPr txBox="1"/>
          <p:nvPr/>
        </p:nvSpPr>
        <p:spPr>
          <a:xfrm>
            <a:off x="2275205" y="327660"/>
            <a:ext cx="4100195" cy="645160"/>
          </a:xfrm>
          <a:prstGeom prst="rect">
            <a:avLst/>
          </a:prstGeom>
          <a:noFill/>
        </p:spPr>
        <p:txBody>
          <a:bodyPr wrap="square" rtlCol="0">
            <a:spAutoFit/>
          </a:bodyPr>
          <a:p>
            <a:r>
              <a:rPr lang="en-US">
                <a:sym typeface="+mn-ea"/>
              </a:rPr>
              <a:t>Output for Example-2</a:t>
            </a:r>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44500" y="255270"/>
            <a:ext cx="8329295" cy="63220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00685" y="1006475"/>
            <a:ext cx="8312150" cy="5560695"/>
          </a:xfrm>
          <a:prstGeom prst="rect">
            <a:avLst/>
          </a:prstGeom>
        </p:spPr>
      </p:pic>
      <p:sp>
        <p:nvSpPr>
          <p:cNvPr id="5" name="Text Box 4"/>
          <p:cNvSpPr txBox="1"/>
          <p:nvPr/>
        </p:nvSpPr>
        <p:spPr>
          <a:xfrm>
            <a:off x="2081530" y="491490"/>
            <a:ext cx="4875530" cy="368300"/>
          </a:xfrm>
          <a:prstGeom prst="rect">
            <a:avLst/>
          </a:prstGeom>
          <a:noFill/>
        </p:spPr>
        <p:txBody>
          <a:bodyPr wrap="square" rtlCol="0">
            <a:spAutoFit/>
          </a:bodyPr>
          <a:p>
            <a:r>
              <a:rPr lang="en-US"/>
              <a:t>Output for Example-3</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Density Plots</a:t>
            </a:r>
            <a:endParaRPr lang="en-US" altLang="en-US"/>
          </a:p>
        </p:txBody>
      </p:sp>
      <p:sp>
        <p:nvSpPr>
          <p:cNvPr id="3" name="Content Placeholder 2"/>
          <p:cNvSpPr>
            <a:spLocks noGrp="1"/>
          </p:cNvSpPr>
          <p:nvPr>
            <p:ph idx="1"/>
          </p:nvPr>
        </p:nvSpPr>
        <p:spPr/>
        <p:txBody>
          <a:bodyPr>
            <a:normAutofit fontScale="70000"/>
          </a:bodyPr>
          <a:p>
            <a:r>
              <a:rPr lang="en-US" altLang="en-US"/>
              <a:t>A density plot is like a smooth, continuous version of a histogram.</a:t>
            </a:r>
            <a:endParaRPr lang="en-US" altLang="en-US"/>
          </a:p>
          <a:p>
            <a:r>
              <a:rPr lang="en-US" altLang="en-US"/>
              <a:t>The area under the curve = 1, representing the entire data distribution.</a:t>
            </a:r>
            <a:endParaRPr lang="en-US" altLang="en-US"/>
          </a:p>
          <a:p>
            <a:r>
              <a:rPr lang="en-US" altLang="en-US"/>
              <a:t>Each point on the curve shows the fraction (or probability) of values at that point.</a:t>
            </a:r>
            <a:endParaRPr lang="en-US" altLang="en-US"/>
          </a:p>
          <a:p>
            <a:r>
              <a:rPr lang="en-US" altLang="en-US"/>
              <a:t>Useful for understanding the shape and parametric nature of the data.</a:t>
            </a:r>
            <a:endParaRPr lang="en-US" altLang="en-US"/>
          </a:p>
          <a:p>
            <a:r>
              <a:rPr lang="en-US" altLang="en-US"/>
              <a:t>In R, use plot(density(x)) to create a density plot, where x is a numeric vector.</a:t>
            </a:r>
            <a:endParaRPr lang="en-US" altLang="en-US"/>
          </a:p>
          <a:p>
            <a:r>
              <a:rPr lang="en-US" altLang="en-US"/>
              <a:t>Ideal for comparing distributions or identifying skewness and multimodal patterns.</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54000" y="97155"/>
            <a:ext cx="8172450" cy="64617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sz="1555"/>
              <a:t>Example 2</a:t>
            </a:r>
            <a:br>
              <a:rPr lang="en-US" altLang="en-US" sz="1555"/>
            </a:br>
            <a:r>
              <a:rPr lang="en-US" altLang="en-US" sz="1555"/>
              <a:t>In case of non-negative data, another way to plot the curve is using the distribution diagram on a logarithmic scale, which is equivalent to the plot the density plot of log10 (input value). For Figure 4.5 it is very hard to find out the peak value of the mass distribution. Hence, in order to simplify the visual representation log10 scale is used. In Figure 4.6 the peak value of the income distribution is clearly pictured as ~$40,000. In case of wide spread data this logarithmic approach can give a perfect result.</a:t>
            </a:r>
            <a:endParaRPr lang="en-US" altLang="en-US" sz="1555"/>
          </a:p>
        </p:txBody>
      </p:sp>
      <p:pic>
        <p:nvPicPr>
          <p:cNvPr id="4" name="Content Placeholder 3"/>
          <p:cNvPicPr>
            <a:picLocks noChangeAspect="1"/>
          </p:cNvPicPr>
          <p:nvPr>
            <p:ph idx="1"/>
          </p:nvPr>
        </p:nvPicPr>
        <p:blipFill>
          <a:blip r:embed="rId1"/>
          <a:stretch>
            <a:fillRect/>
          </a:stretch>
        </p:blipFill>
        <p:spPr>
          <a:xfrm>
            <a:off x="514985" y="1748790"/>
            <a:ext cx="8188960" cy="454088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72390" y="1044575"/>
            <a:ext cx="8879205" cy="41287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Bar Charts</a:t>
            </a:r>
            <a:endParaRPr lang="en-US" altLang="en-US"/>
          </a:p>
        </p:txBody>
      </p:sp>
      <p:sp>
        <p:nvSpPr>
          <p:cNvPr id="3" name="Content Placeholder 2"/>
          <p:cNvSpPr>
            <a:spLocks noGrp="1"/>
          </p:cNvSpPr>
          <p:nvPr>
            <p:ph idx="1"/>
          </p:nvPr>
        </p:nvSpPr>
        <p:spPr/>
        <p:txBody>
          <a:bodyPr>
            <a:normAutofit fontScale="70000"/>
          </a:bodyPr>
          <a:p>
            <a:r>
              <a:rPr lang="en-US" altLang="en-US"/>
              <a:t>A bar chart displays data using vertical or horizontal bars proportional to values.</a:t>
            </a:r>
            <a:endParaRPr lang="en-US" altLang="en-US"/>
          </a:p>
          <a:p>
            <a:r>
              <a:rPr lang="en-US" altLang="en-US"/>
              <a:t>In R, use the barplot() function to create bar charts.</a:t>
            </a:r>
            <a:endParaRPr lang="en-US" altLang="en-US"/>
          </a:p>
          <a:p>
            <a:r>
              <a:rPr lang="en-US" altLang="en-US"/>
              <a:t>Syntax: barplot(H, xlab, ylab, main, names.arg, col)</a:t>
            </a:r>
            <a:endParaRPr lang="en-US" altLang="en-US"/>
          </a:p>
          <a:p>
            <a:r>
              <a:rPr lang="en-US" altLang="en-US"/>
              <a:t>H is a vector or matrix of values; col assigns bar colors; names.arg labels each bar.</a:t>
            </a:r>
            <a:endParaRPr lang="en-US" altLang="en-US"/>
          </a:p>
          <a:p>
            <a:r>
              <a:rPr lang="en-US" altLang="en-US"/>
              <a:t>Common types of bar charts in R:</a:t>
            </a:r>
            <a:endParaRPr lang="en-US" altLang="en-US"/>
          </a:p>
          <a:p>
            <a:pPr marL="0" indent="457200">
              <a:buNone/>
            </a:pPr>
            <a:r>
              <a:rPr lang="en-US" altLang="en-US"/>
              <a:t>1. Simple Bar Chart</a:t>
            </a:r>
            <a:endParaRPr lang="en-US" altLang="en-US"/>
          </a:p>
          <a:p>
            <a:pPr marL="0" indent="457200">
              <a:buNone/>
            </a:pPr>
            <a:r>
              <a:rPr lang="en-US" altLang="en-US"/>
              <a:t>2. Grouped Bar Chart</a:t>
            </a:r>
            <a:endParaRPr lang="en-US" altLang="en-US"/>
          </a:p>
          <a:p>
            <a:pPr marL="0" indent="457200">
              <a:buNone/>
            </a:pPr>
            <a:r>
              <a:rPr lang="en-US" altLang="en-US"/>
              <a:t>3. Stacked Bar Chart</a:t>
            </a:r>
            <a:endParaRPr lang="en-US" altLang="en-US"/>
          </a:p>
          <a:p>
            <a:r>
              <a:rPr lang="en-US" altLang="en-US"/>
              <a:t>Ideal for categorical data comparison and visual summarization.</a:t>
            </a:r>
            <a:endParaRPr lang="en-US" altLang="en-US"/>
          </a:p>
          <a:p>
            <a:endParaRPr lang="en-US" altLang="en-US"/>
          </a:p>
          <a:p>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a:t>
            </a:r>
            <a:r>
              <a:rPr lang="en-US" altLang="en-US"/>
              <a:t>Simple Bar Chart</a:t>
            </a:r>
            <a:endParaRPr lang="en-US" altLang="en-US"/>
          </a:p>
        </p:txBody>
      </p:sp>
      <p:sp>
        <p:nvSpPr>
          <p:cNvPr id="3" name="Content Placeholder 2"/>
          <p:cNvSpPr>
            <a:spLocks noGrp="1"/>
          </p:cNvSpPr>
          <p:nvPr>
            <p:ph idx="1"/>
          </p:nvPr>
        </p:nvSpPr>
        <p:spPr/>
        <p:txBody>
          <a:bodyPr>
            <a:noAutofit/>
          </a:bodyPr>
          <a:p>
            <a:r>
              <a:rPr lang="en-US" altLang="en-US" sz="1900"/>
              <a:t>A simple bar chart is created by just providing the input values and a name to the bar chart. The following code creates and saves a bar chart using the barplot() function in R.</a:t>
            </a:r>
            <a:endParaRPr lang="en-US" altLang="en-US" sz="1900"/>
          </a:p>
          <a:p>
            <a:r>
              <a:rPr lang="en-US" altLang="en-US" sz="1900"/>
              <a:t>Example 1</a:t>
            </a:r>
            <a:endParaRPr lang="en-US" altLang="en-US" sz="1900"/>
          </a:p>
          <a:p>
            <a:pPr marL="0" indent="0">
              <a:buNone/>
            </a:pPr>
            <a:r>
              <a:rPr lang="en-US" altLang="en-US" sz="1900"/>
              <a:t># Create data for the bar chart</a:t>
            </a:r>
            <a:endParaRPr lang="en-US" altLang="en-US" sz="1900"/>
          </a:p>
          <a:p>
            <a:pPr marL="0" indent="0">
              <a:buNone/>
            </a:pPr>
            <a:r>
              <a:rPr lang="en-US" altLang="en-US" sz="1900"/>
              <a:t> H &lt;- c (8,13,30,5,28)</a:t>
            </a:r>
            <a:endParaRPr lang="en-US" altLang="en-US" sz="1900"/>
          </a:p>
          <a:p>
            <a:pPr marL="0" indent="0">
              <a:buNone/>
            </a:pPr>
            <a:r>
              <a:rPr lang="en-US" altLang="en-US" sz="1900"/>
              <a:t>#Give a name for the bar chart</a:t>
            </a:r>
            <a:endParaRPr lang="en-US" altLang="en-US" sz="1900"/>
          </a:p>
          <a:p>
            <a:pPr marL="0" indent="0">
              <a:buNone/>
            </a:pPr>
            <a:r>
              <a:rPr lang="en-US" altLang="en-US" sz="1900"/>
              <a:t> png(file = “samplebarchart.png”)</a:t>
            </a:r>
            <a:endParaRPr lang="en-US" altLang="en-US" sz="1900"/>
          </a:p>
          <a:p>
            <a:pPr marL="0" indent="0">
              <a:buNone/>
            </a:pPr>
            <a:r>
              <a:rPr lang="en-US" altLang="en-US" sz="1900"/>
              <a:t>#Plot bar chart using barplot() function </a:t>
            </a:r>
            <a:endParaRPr lang="en-US" altLang="en-US" sz="1900"/>
          </a:p>
          <a:p>
            <a:pPr marL="0" indent="0">
              <a:buNone/>
            </a:pPr>
            <a:r>
              <a:rPr lang="en-US" altLang="en-US" sz="1900"/>
              <a:t>barplot(H)</a:t>
            </a:r>
            <a:endParaRPr lang="en-US" altLang="en-US" sz="1900"/>
          </a:p>
          <a:p>
            <a:pPr marL="0" indent="0">
              <a:buNone/>
            </a:pPr>
            <a:r>
              <a:rPr lang="en-US" altLang="en-US" sz="1900"/>
              <a:t>#Save the file </a:t>
            </a:r>
            <a:endParaRPr lang="en-US" altLang="en-US" sz="1900"/>
          </a:p>
          <a:p>
            <a:pPr marL="0" indent="0">
              <a:buNone/>
            </a:pPr>
            <a:r>
              <a:rPr lang="en-US" altLang="en-US" sz="1900"/>
              <a:t>dev.off()</a:t>
            </a:r>
            <a:endParaRPr lang="en-US" altLang="en-US" sz="1900"/>
          </a:p>
          <a:p>
            <a:pPr marL="0" indent="0">
              <a:buNone/>
            </a:pPr>
            <a:r>
              <a:rPr lang="en-US" altLang="en-US" sz="1900"/>
              <a:t>&gt;H &lt;- c (8,13,30,5,28)</a:t>
            </a:r>
            <a:endParaRPr lang="en-US" altLang="en-US" sz="1900"/>
          </a:p>
          <a:p>
            <a:pPr marL="0" indent="0">
              <a:buNone/>
            </a:pPr>
            <a:r>
              <a:rPr lang="en-US" altLang="en-US" sz="1900"/>
              <a:t>&gt;barplot (H, xlab = “Categories”, ylab=“Values”, col=“blue”)</a:t>
            </a:r>
            <a:endParaRPr lang="en-US" altLang="en-US" sz="1900"/>
          </a:p>
        </p:txBody>
      </p:sp>
      <p:pic>
        <p:nvPicPr>
          <p:cNvPr id="4" name="Picture 3"/>
          <p:cNvPicPr>
            <a:picLocks noChangeAspect="1"/>
          </p:cNvPicPr>
          <p:nvPr/>
        </p:nvPicPr>
        <p:blipFill>
          <a:blip r:embed="rId1"/>
          <a:stretch>
            <a:fillRect/>
          </a:stretch>
        </p:blipFill>
        <p:spPr>
          <a:xfrm>
            <a:off x="4719955" y="2595245"/>
            <a:ext cx="3991610" cy="28778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64490"/>
            <a:ext cx="8229600" cy="5761990"/>
          </a:xfrm>
        </p:spPr>
        <p:txBody>
          <a:bodyPr>
            <a:normAutofit fontScale="70000"/>
          </a:bodyPr>
          <a:p>
            <a:r>
              <a:rPr lang="en-US" altLang="en-US"/>
              <a:t>The bar chart is drawn horizontally by passing the “horiz” parameter TRUE. This can be shown with a sample program as follows:</a:t>
            </a:r>
            <a:endParaRPr lang="en-US" altLang="en-US"/>
          </a:p>
          <a:p>
            <a:pPr marL="0" indent="0">
              <a:buNone/>
            </a:pPr>
            <a:r>
              <a:rPr lang="en-US" altLang="en-US"/>
              <a:t># Create data for the bar chart</a:t>
            </a:r>
            <a:endParaRPr lang="en-US" altLang="en-US"/>
          </a:p>
          <a:p>
            <a:pPr marL="0" indent="0">
              <a:buNone/>
            </a:pPr>
            <a:r>
              <a:rPr lang="en-US" altLang="en-US"/>
              <a:t>H &lt;- c (8,13,30,5,28)</a:t>
            </a:r>
            <a:endParaRPr lang="en-US" altLang="en-US"/>
          </a:p>
          <a:p>
            <a:pPr marL="0" indent="0">
              <a:buNone/>
            </a:pPr>
            <a:r>
              <a:rPr lang="en-US" altLang="en-US"/>
              <a:t>#Give a name for the bar chart</a:t>
            </a:r>
            <a:endParaRPr lang="en-US" altLang="en-US"/>
          </a:p>
          <a:p>
            <a:pPr marL="0" indent="0">
              <a:buNone/>
            </a:pPr>
            <a:r>
              <a:rPr lang="en-US" altLang="en-US"/>
              <a:t>png(file = “samplebarchart.png”)</a:t>
            </a:r>
            <a:endParaRPr lang="en-US" altLang="en-US"/>
          </a:p>
          <a:p>
            <a:pPr marL="0" indent="0">
              <a:buNone/>
            </a:pPr>
            <a:r>
              <a:rPr lang="en-US" altLang="en-US"/>
              <a:t>#Plot bar chart using barplot() function</a:t>
            </a:r>
            <a:endParaRPr lang="en-US" altLang="en-US"/>
          </a:p>
          <a:p>
            <a:pPr marL="0" indent="0">
              <a:buNone/>
            </a:pPr>
            <a:r>
              <a:rPr lang="en-US" altLang="en-US"/>
              <a:t>barplot(H, horiz=TRUE))</a:t>
            </a:r>
            <a:endParaRPr lang="en-US" altLang="en-US"/>
          </a:p>
          <a:p>
            <a:pPr marL="0" indent="0">
              <a:buNone/>
            </a:pPr>
            <a:r>
              <a:rPr lang="en-US" altLang="en-US"/>
              <a:t>#Save the file</a:t>
            </a:r>
            <a:endParaRPr lang="en-US" altLang="en-US"/>
          </a:p>
          <a:p>
            <a:pPr marL="0" indent="0">
              <a:buNone/>
            </a:pPr>
            <a:r>
              <a:rPr lang="en-US" altLang="en-US"/>
              <a:t>dev.off()</a:t>
            </a:r>
            <a:endParaRPr lang="en-US" altLang="en-US"/>
          </a:p>
          <a:p>
            <a:pPr marL="0" indent="0">
              <a:buNone/>
            </a:pPr>
            <a:r>
              <a:rPr lang="en-US" altLang="en-US"/>
              <a:t>&gt;barplot(H, xlab = “Values”, ylab=“Categories”, col=“blue”, horiz=TRUE)</a:t>
            </a:r>
            <a:endParaRPr lang="en-US" altLang="en-US"/>
          </a:p>
        </p:txBody>
      </p:sp>
      <p:pic>
        <p:nvPicPr>
          <p:cNvPr id="4" name="Picture 3"/>
          <p:cNvPicPr>
            <a:picLocks noChangeAspect="1"/>
          </p:cNvPicPr>
          <p:nvPr/>
        </p:nvPicPr>
        <p:blipFill>
          <a:blip r:embed="rId1"/>
          <a:stretch>
            <a:fillRect/>
          </a:stretch>
        </p:blipFill>
        <p:spPr>
          <a:xfrm>
            <a:off x="5015865" y="1321435"/>
            <a:ext cx="3676015" cy="314579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2.Group Bar Chart</a:t>
            </a:r>
            <a:endParaRPr lang="en-US" altLang="en-US"/>
          </a:p>
        </p:txBody>
      </p:sp>
      <p:sp>
        <p:nvSpPr>
          <p:cNvPr id="3" name="Content Placeholder 2"/>
          <p:cNvSpPr>
            <a:spLocks noGrp="1"/>
          </p:cNvSpPr>
          <p:nvPr>
            <p:ph idx="1"/>
          </p:nvPr>
        </p:nvSpPr>
        <p:spPr/>
        <p:txBody>
          <a:bodyPr/>
          <a:p>
            <a:r>
              <a:rPr lang="en-US" altLang="en-US"/>
              <a:t>A group data in R is used to handle multiple inputs and takes the value of the matrix.  This group bar chart is created using the barplot() function and accepts the matrix inputs.</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631190" y="407035"/>
            <a:ext cx="7313295" cy="60439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Result</a:t>
            </a:r>
            <a:endParaRPr lang="en-US"/>
          </a:p>
        </p:txBody>
      </p:sp>
      <p:pic>
        <p:nvPicPr>
          <p:cNvPr id="4" name="Content Placeholder 3"/>
          <p:cNvPicPr>
            <a:picLocks noChangeAspect="1"/>
          </p:cNvPicPr>
          <p:nvPr>
            <p:ph idx="1"/>
          </p:nvPr>
        </p:nvPicPr>
        <p:blipFill>
          <a:blip r:embed="rId1"/>
          <a:stretch>
            <a:fillRect/>
          </a:stretch>
        </p:blipFill>
        <p:spPr>
          <a:xfrm>
            <a:off x="1046480" y="1417320"/>
            <a:ext cx="7639685" cy="460121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3.Stacked Bar Chart</a:t>
            </a:r>
            <a:endParaRPr lang="en-US" altLang="en-US"/>
          </a:p>
        </p:txBody>
      </p:sp>
      <p:sp>
        <p:nvSpPr>
          <p:cNvPr id="3" name="Content Placeholder 2"/>
          <p:cNvSpPr>
            <a:spLocks noGrp="1"/>
          </p:cNvSpPr>
          <p:nvPr>
            <p:ph idx="1"/>
          </p:nvPr>
        </p:nvSpPr>
        <p:spPr/>
        <p:txBody>
          <a:bodyPr/>
          <a:p>
            <a:r>
              <a:rPr lang="en-US" altLang="en-US"/>
              <a:t>Stacked bar chart is similar to group bar chart where multiple inputs can take different graphical representations. Except by grouping the values, the stacked bar chart stacks each bar one after the other based on the input values.</a:t>
            </a: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pic>
        <p:nvPicPr>
          <p:cNvPr id="4" name="Content Placeholder 3"/>
          <p:cNvPicPr>
            <a:picLocks noChangeAspect="1"/>
          </p:cNvPicPr>
          <p:nvPr>
            <p:ph idx="1"/>
          </p:nvPr>
        </p:nvPicPr>
        <p:blipFill>
          <a:blip r:embed="rId1"/>
          <a:stretch>
            <a:fillRect/>
          </a:stretch>
        </p:blipFill>
        <p:spPr>
          <a:xfrm>
            <a:off x="902970" y="1856105"/>
            <a:ext cx="7202170" cy="328485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Result</a:t>
            </a:r>
            <a:endParaRPr lang="en-US"/>
          </a:p>
        </p:txBody>
      </p:sp>
      <p:pic>
        <p:nvPicPr>
          <p:cNvPr id="4" name="Content Placeholder 3"/>
          <p:cNvPicPr>
            <a:picLocks noChangeAspect="1"/>
          </p:cNvPicPr>
          <p:nvPr>
            <p:ph idx="1"/>
          </p:nvPr>
        </p:nvPicPr>
        <p:blipFill>
          <a:blip r:embed="rId1"/>
          <a:stretch>
            <a:fillRect/>
          </a:stretch>
        </p:blipFill>
        <p:spPr>
          <a:xfrm>
            <a:off x="419100" y="1417955"/>
            <a:ext cx="7739380" cy="3319780"/>
          </a:xfrm>
          <a:prstGeom prst="rect">
            <a:avLst/>
          </a:prstGeom>
        </p:spPr>
      </p:pic>
      <p:sp>
        <p:nvSpPr>
          <p:cNvPr id="5" name="Text Box 4"/>
          <p:cNvSpPr txBox="1"/>
          <p:nvPr/>
        </p:nvSpPr>
        <p:spPr>
          <a:xfrm>
            <a:off x="441960" y="5157470"/>
            <a:ext cx="8020685" cy="1476375"/>
          </a:xfrm>
          <a:prstGeom prst="rect">
            <a:avLst/>
          </a:prstGeom>
          <a:noFill/>
        </p:spPr>
        <p:txBody>
          <a:bodyPr wrap="square" rtlCol="0">
            <a:spAutoFit/>
          </a:bodyPr>
          <a:p>
            <a:r>
              <a:rPr lang="en-US" altLang="en-US"/>
              <a:t>In Figure 4.11, the ‘Total’ is set as the main title of the stack bar chart with ‘Months’ as the X-axis label and ‘Season’ as the Y-axis label. The code legend (“topleft”, days,</a:t>
            </a:r>
            <a:endParaRPr lang="en-US" altLang="en-US"/>
          </a:p>
          <a:p>
            <a:r>
              <a:rPr lang="en-US" altLang="en-US"/>
              <a:t>cex=1.3,fill=colours) specifies the legend to be displayed at the top right of the bar chart with colours filled accordingly.</a:t>
            </a:r>
            <a:endParaRPr lang="en-US" altLang="en-US"/>
          </a:p>
          <a:p>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Using ggplot2 for Visualization</a:t>
            </a:r>
          </a:p>
        </p:txBody>
      </p:sp>
      <p:sp>
        <p:nvSpPr>
          <p:cNvPr id="3" name="Content Placeholder 2"/>
          <p:cNvSpPr>
            <a:spLocks noGrp="1"/>
          </p:cNvSpPr>
          <p:nvPr>
            <p:ph idx="1"/>
          </p:nvPr>
        </p:nvSpPr>
        <p:spPr/>
        <p:txBody>
          <a:bodyPr/>
          <a:lstStyle/>
          <a:p>
            <a:r>
              <a:t>ggplot2 is a powerful package:</a:t>
            </a:r>
          </a:p>
          <a:p>
            <a:r>
              <a:t>Example:</a:t>
            </a:r>
          </a:p>
          <a:p>
            <a:r>
              <a:t>library(ggplot2)</a:t>
            </a:r>
          </a:p>
          <a:p>
            <a:r>
              <a:t>ggplot(iris, aes(x=Species, y=Sepal.Length)) + geom_boxplot()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Dealing with Data Types</a:t>
            </a:r>
          </a:p>
        </p:txBody>
      </p:sp>
      <p:sp>
        <p:nvSpPr>
          <p:cNvPr id="3" name="Content Placeholder 2"/>
          <p:cNvSpPr>
            <a:spLocks noGrp="1"/>
          </p:cNvSpPr>
          <p:nvPr>
            <p:ph idx="1"/>
          </p:nvPr>
        </p:nvSpPr>
        <p:spPr/>
        <p:txBody>
          <a:bodyPr/>
          <a:lstStyle/>
          <a:p>
            <a:r>
              <a:t>Check: class(df$col), typeof(df$col)</a:t>
            </a:r>
          </a:p>
          <a:p>
            <a:r>
              <a:t>Convert:</a:t>
            </a:r>
          </a:p>
          <a:p>
            <a:r>
              <a:t>as.numeric(), as.character(), as.factor()</a:t>
            </a:r>
          </a:p>
          <a:p/>
          <a:p>
            <a:r>
              <a:t>Example:</a:t>
            </a:r>
          </a:p>
          <a:p>
            <a:r>
              <a:t>df$col &lt;- as.factor(df$col)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9448</Words>
  <Application>WPS Presentation</Application>
  <PresentationFormat>On-screen Show (4:3)</PresentationFormat>
  <Paragraphs>292</Paragraphs>
  <Slides>42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Arial</vt:lpstr>
      <vt:lpstr>SimSun</vt:lpstr>
      <vt:lpstr>Wingdings</vt:lpstr>
      <vt:lpstr>Arial</vt:lpstr>
      <vt:lpstr>Calibri</vt:lpstr>
      <vt:lpstr>Microsoft YaHei</vt:lpstr>
      <vt:lpstr>Arial Unicode MS</vt:lpstr>
      <vt:lpstr>Office Theme</vt:lpstr>
      <vt:lpstr>Exploring and Managing Data in R </vt:lpstr>
      <vt:lpstr>Table of Contents - Part 1</vt:lpstr>
      <vt:lpstr>Introduction to Data Exploration in R</vt:lpstr>
      <vt:lpstr>Understanding Data Frames</vt:lpstr>
      <vt:lpstr>PowerPoint 演示文稿</vt:lpstr>
      <vt:lpstr>Other DataFrame commands</vt:lpstr>
      <vt:lpstr>Creating and Loading Data Frames</vt:lpstr>
      <vt:lpstr>PowerPoint 演示文稿</vt:lpstr>
      <vt:lpstr>PowerPoint 演示文稿</vt:lpstr>
      <vt:lpstr>R Functions for Data Understanding</vt:lpstr>
      <vt:lpstr>Exploring Data: Structure and Content</vt:lpstr>
      <vt:lpstr>PowerPoint 演示文稿</vt:lpstr>
      <vt:lpstr>PowerPoint 演示文稿</vt:lpstr>
      <vt:lpstr>Summarizing Data</vt:lpstr>
      <vt:lpstr>Handling Missing Values</vt:lpstr>
      <vt:lpstr>Invalid Values and Outliers</vt:lpstr>
      <vt:lpstr>Descriptive Statistics</vt:lpstr>
      <vt:lpstr>Examples</vt:lpstr>
      <vt:lpstr>PowerPoint 演示文稿</vt:lpstr>
      <vt:lpstr>PowerPoint 演示文稿</vt:lpstr>
      <vt:lpstr>PowerPoint 演示文稿</vt:lpstr>
      <vt:lpstr>Data Visualization for Spotting Problems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Using ggplot2 for Visualization</vt:lpstr>
      <vt:lpstr>Dealing with Data Types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Ramya sri Munukuntla</cp:lastModifiedBy>
  <cp:revision>3</cp:revision>
  <dcterms:created xsi:type="dcterms:W3CDTF">2013-01-27T09:14:00Z</dcterms:created>
  <dcterms:modified xsi:type="dcterms:W3CDTF">2025-07-29T18:08:17Z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3920CD6B84FA4BE89879BE56E57CD834_13</vt:lpwstr>
  </property>
  <property fmtid="{D5CDD505-2E9C-101B-9397-08002B2CF9AE}" pid="3" name="KSOProductBuildVer">
    <vt:lpwstr>1033-12.2.0.21931</vt:lpwstr>
  </property>
</Properties>
</file>