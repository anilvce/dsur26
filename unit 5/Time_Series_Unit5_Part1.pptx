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61" r:id="rId6"/>
    <p:sldId id="262" r:id="rId7"/>
    <p:sldId id="259"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3" r:id="rId30"/>
    <p:sldId id="285" r:id="rId31"/>
    <p:sldId id="286" r:id="rId32"/>
    <p:sldId id="287" r:id="rId33"/>
    <p:sldId id="288" r:id="rId34"/>
    <p:sldId id="289"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t>Time Series in R</a:t>
            </a:r>
          </a:p>
        </p:txBody>
      </p:sp>
      <p:sp>
        <p:nvSpPr>
          <p:cNvPr id="3" name="Subtitle 2"/>
          <p:cNvSpPr>
            <a:spLocks noGrp="1"/>
          </p:cNvSpPr>
          <p:nvPr>
            <p:ph type="subTitle" idx="1"/>
          </p:nvPr>
        </p:nvSpPr>
        <p:spPr/>
        <p:txBody>
          <a:bodyPr/>
          <a:lstStyle/>
          <a:p>
            <a:r>
              <a:t>Unit 5 – </a:t>
            </a:r>
            <a:r>
              <a:rPr lang="en-US"/>
              <a:t>Part-1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u="sng"/>
              <a:t>Introduction to Time Series Data</a:t>
            </a:r>
            <a:endParaRPr u="sng"/>
          </a:p>
        </p:txBody>
      </p:sp>
      <p:sp>
        <p:nvSpPr>
          <p:cNvPr id="3" name="Content Placeholder 2"/>
          <p:cNvSpPr>
            <a:spLocks noGrp="1"/>
          </p:cNvSpPr>
          <p:nvPr>
            <p:ph idx="1"/>
          </p:nvPr>
        </p:nvSpPr>
        <p:spPr/>
        <p:txBody>
          <a:bodyPr>
            <a:normAutofit fontScale="80000"/>
          </a:bodyPr>
          <a:lstStyle/>
          <a:p>
            <a:r>
              <a:t>Time series data = observations collected sequentially over time at regular intervals.</a:t>
            </a:r>
          </a:p>
          <a:p>
            <a:r>
              <a:rPr lang="en-US" altLang="en-US"/>
              <a:t>Time series modeling is a method that uses data indexed by time (years, days, hours, minutes) to uncover hidden patterns and insights, enabling informed decision making.</a:t>
            </a:r>
            <a:endParaRPr lang="en-US" altLang="en-US"/>
          </a:p>
          <a:p>
            <a:r>
              <a:t>Examples: daily temperature, monthly sales, hourly website hits.</a:t>
            </a:r>
          </a:p>
          <a:p>
            <a:r>
              <a:t>Order matters; past values influence future values.</a:t>
            </a:r>
          </a:p>
          <a:p>
            <a:r>
              <a:t>Helps understand patterns (trend, seasonality, cycles), forecast future values and detect anomalies.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Components of a Time Series</a:t>
            </a:r>
          </a:p>
        </p:txBody>
      </p:sp>
      <p:sp>
        <p:nvSpPr>
          <p:cNvPr id="3" name="Content Placeholder 2"/>
          <p:cNvSpPr>
            <a:spLocks noGrp="1"/>
          </p:cNvSpPr>
          <p:nvPr>
            <p:ph idx="1"/>
          </p:nvPr>
        </p:nvSpPr>
        <p:spPr/>
        <p:txBody>
          <a:bodyPr/>
          <a:lstStyle/>
          <a:p>
            <a:r>
              <a:t>Trend: Long-term increase or decrease.</a:t>
            </a:r>
          </a:p>
          <a:p>
            <a:r>
              <a:t>Seasonality: Regular, periodic fluctuations.</a:t>
            </a:r>
          </a:p>
          <a:p>
            <a:r>
              <a:t>Cyclic Variation: Long-term up/down movements not fixed to a period.</a:t>
            </a:r>
          </a:p>
          <a:p>
            <a:r>
              <a:t>Irregular/Noise: Unpredictable variation.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Examples of Time Series</a:t>
            </a:r>
            <a:endParaRPr lang="en-US"/>
          </a:p>
        </p:txBody>
      </p:sp>
      <p:sp>
        <p:nvSpPr>
          <p:cNvPr id="3" name="Content Placeholder 2"/>
          <p:cNvSpPr>
            <a:spLocks noGrp="1"/>
          </p:cNvSpPr>
          <p:nvPr>
            <p:ph idx="1"/>
          </p:nvPr>
        </p:nvSpPr>
        <p:spPr/>
        <p:txBody>
          <a:bodyPr>
            <a:normAutofit/>
          </a:bodyPr>
          <a:p>
            <a:pPr marL="0" indent="0">
              <a:buNone/>
            </a:pPr>
            <a:endParaRPr lang="en-US" altLang="en-US"/>
          </a:p>
          <a:p>
            <a:r>
              <a:rPr lang="en-US" altLang="en-US"/>
              <a:t>Financial: stock prices, interest rates.</a:t>
            </a:r>
            <a:endParaRPr lang="en-US" altLang="en-US"/>
          </a:p>
          <a:p>
            <a:r>
              <a:rPr lang="en-US" altLang="en-US"/>
              <a:t>Business: monthly sales, customer footfall.</a:t>
            </a:r>
            <a:endParaRPr lang="en-US" altLang="en-US"/>
          </a:p>
          <a:p>
            <a:r>
              <a:rPr lang="en-US" altLang="en-US"/>
              <a:t>Environment: rainfall, temperature, pollution index.</a:t>
            </a:r>
            <a:endParaRPr lang="en-US" altLang="en-US"/>
          </a:p>
          <a:p>
            <a:r>
              <a:rPr lang="en-US" altLang="en-US"/>
              <a:t>Healthcare: patient admissions, disease incidence.</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u="sng"/>
              <a:t>What is time series Data?</a:t>
            </a:r>
            <a:endParaRPr lang="en-US" altLang="en-US" u="sng"/>
          </a:p>
        </p:txBody>
      </p:sp>
      <p:sp>
        <p:nvSpPr>
          <p:cNvPr id="3" name="Content Placeholder 2"/>
          <p:cNvSpPr>
            <a:spLocks noGrp="1"/>
          </p:cNvSpPr>
          <p:nvPr>
            <p:ph idx="1"/>
          </p:nvPr>
        </p:nvSpPr>
        <p:spPr>
          <a:xfrm>
            <a:off x="457200" y="1417955"/>
            <a:ext cx="8229600" cy="4525963"/>
          </a:xfrm>
        </p:spPr>
        <p:txBody>
          <a:bodyPr>
            <a:noAutofit/>
          </a:bodyPr>
          <a:p>
            <a:r>
              <a:rPr lang="en-US" altLang="en-US" sz="2700"/>
              <a:t>Time Series Data refers to values of a variable recorded over time, such as months, quarters, or years. Examples include stock prices changing every second or monthly unemployment rates.</a:t>
            </a:r>
            <a:endParaRPr lang="en-US" altLang="en-US" sz="2700"/>
          </a:p>
          <a:p>
            <a:r>
              <a:rPr lang="en-US" altLang="en-US" sz="2700"/>
              <a:t>There are two types:</a:t>
            </a:r>
            <a:endParaRPr lang="en-US" altLang="en-US" sz="2700"/>
          </a:p>
          <a:p>
            <a:pPr marL="0" indent="457200">
              <a:buNone/>
            </a:pPr>
            <a:r>
              <a:rPr lang="en-US" altLang="en-US" sz="2700"/>
              <a:t>1. Univariate: Uses a single variable to describe the 	data.</a:t>
            </a:r>
            <a:endParaRPr lang="en-US" altLang="en-US" sz="2700"/>
          </a:p>
          <a:p>
            <a:pPr marL="0" indent="457200">
              <a:buNone/>
            </a:pPr>
            <a:r>
              <a:rPr lang="en-US" altLang="en-US" sz="2700"/>
              <a:t>2. Multivariate: Uses multiple variables to describe the 	data.</a:t>
            </a:r>
            <a:endParaRPr lang="en-US" altLang="en-US" sz="2700"/>
          </a:p>
          <a:p>
            <a:r>
              <a:rPr lang="en-US" altLang="en-US" sz="2700"/>
              <a:t>Time Series Analysis examines patterns and trends in both univariate and multivariate data. R provides tools and commands to perform such analysis effectively.</a:t>
            </a:r>
            <a:endParaRPr lang="en-US" altLang="en-US" sz="2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lstStyle/>
          <a:p>
            <a:r>
              <a:rPr u="sng"/>
              <a:t>Basic R Commands for Data Visualisation</a:t>
            </a:r>
            <a:endParaRPr u="sng"/>
          </a:p>
        </p:txBody>
      </p:sp>
      <p:sp>
        <p:nvSpPr>
          <p:cNvPr id="3" name="Content Placeholder 2"/>
          <p:cNvSpPr>
            <a:spLocks noGrp="1"/>
          </p:cNvSpPr>
          <p:nvPr>
            <p:ph idx="1"/>
          </p:nvPr>
        </p:nvSpPr>
        <p:spPr>
          <a:xfrm>
            <a:off x="457200" y="1600200"/>
            <a:ext cx="8229600" cy="4955540"/>
          </a:xfrm>
        </p:spPr>
        <p:txBody>
          <a:bodyPr>
            <a:normAutofit fontScale="60000"/>
          </a:bodyPr>
          <a:lstStyle/>
          <a:p>
            <a:pPr marL="0" indent="0">
              <a:buNone/>
            </a:pPr>
            <a:r>
              <a:rPr sz="3000"/>
              <a:t>R provides built-in functions to visualise time series quickly.</a:t>
            </a:r>
            <a:endParaRPr sz="3000"/>
          </a:p>
          <a:p>
            <a:r>
              <a:rPr sz="3000"/>
              <a:t> plot(): basic plotting function.</a:t>
            </a:r>
            <a:endParaRPr sz="3000"/>
          </a:p>
          <a:p>
            <a:r>
              <a:rPr sz="3000"/>
              <a:t> ts.plot(): specialised for time series; can overlay multiple series.</a:t>
            </a:r>
            <a:endParaRPr sz="3000"/>
          </a:p>
          <a:p>
            <a:r>
              <a:rPr sz="3000"/>
              <a:t> lines() &amp; points(): add additional series or points to an existing plot.</a:t>
            </a:r>
            <a:endParaRPr sz="3000"/>
          </a:p>
          <a:p>
            <a:r>
              <a:rPr sz="3000"/>
              <a:t> legend(): add legends to differentiate series.</a:t>
            </a:r>
            <a:endParaRPr sz="3000"/>
          </a:p>
          <a:p>
            <a:r>
              <a:rPr sz="3000"/>
              <a:t> </a:t>
            </a:r>
            <a:r>
              <a:rPr lang="en-US" altLang="en-US" sz="3000"/>
              <a:t>plot() – Creates a scatter plot or line plot of the given data.</a:t>
            </a:r>
            <a:endParaRPr lang="en-US" altLang="en-US" sz="3000"/>
          </a:p>
          <a:p>
            <a:r>
              <a:rPr lang="en-US" altLang="en-US" sz="3000"/>
              <a:t>hist() – Draws a histogram to show the frequency distribution of a dataset.</a:t>
            </a:r>
            <a:endParaRPr lang="en-US" altLang="en-US" sz="3000"/>
          </a:p>
          <a:p>
            <a:r>
              <a:rPr lang="en-US" altLang="en-US" sz="3000"/>
              <a:t>pie() – Generates a pie chart to represent parts of a whole.</a:t>
            </a:r>
            <a:endParaRPr lang="en-US" altLang="en-US" sz="3000"/>
          </a:p>
          <a:p>
            <a:r>
              <a:rPr lang="en-US" altLang="en-US" sz="3000"/>
              <a:t>boxplot() – Creates a box-and-whisker plot to display data distribution and outliers.</a:t>
            </a:r>
            <a:endParaRPr lang="en-US" altLang="en-US" sz="3000"/>
          </a:p>
          <a:p>
            <a:r>
              <a:rPr lang="en-US" altLang="en-US" sz="3000"/>
              <a:t>stripchart() – Produces a one-dimensional scatter plot for visualizing individual data points.</a:t>
            </a:r>
            <a:endParaRPr lang="en-US" altLang="en-US" sz="3000"/>
          </a:p>
          <a:p>
            <a:r>
              <a:rPr lang="en-US" altLang="en-US" sz="3000"/>
              <a:t>curve() – Plots a mathematical function or curve over a specified range.</a:t>
            </a:r>
            <a:endParaRPr lang="en-US" altLang="en-US" sz="3000"/>
          </a:p>
          <a:p>
            <a:r>
              <a:rPr lang="en-US" altLang="en-US" sz="3000"/>
              <a:t>abline() – Adds straight lines (horizontal, vertical, or regression) to an existing plot.</a:t>
            </a:r>
            <a:endParaRPr lang="en-US" altLang="en-US" sz="3000"/>
          </a:p>
          <a:p>
            <a:r>
              <a:rPr lang="en-US" altLang="en-US" sz="3000"/>
              <a:t>qqnorm() – Creates a normal Q-Q plot to check if data follows a normal distribution</a:t>
            </a:r>
            <a:r>
              <a:rPr lang="en-US" altLang="en-US" sz="2800"/>
              <a:t>.</a:t>
            </a:r>
            <a:endParaRPr lang="en-US" alt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plot() Function in R</a:t>
            </a:r>
            <a:endParaRPr lang="en-US" altLang="en-US"/>
          </a:p>
        </p:txBody>
      </p:sp>
      <p:sp>
        <p:nvSpPr>
          <p:cNvPr id="3" name="Content Placeholder 2"/>
          <p:cNvSpPr>
            <a:spLocks noGrp="1"/>
          </p:cNvSpPr>
          <p:nvPr>
            <p:ph idx="1"/>
          </p:nvPr>
        </p:nvSpPr>
        <p:spPr>
          <a:xfrm>
            <a:off x="457200" y="1417320"/>
            <a:ext cx="8229600" cy="5182235"/>
          </a:xfrm>
        </p:spPr>
        <p:txBody>
          <a:bodyPr>
            <a:noAutofit/>
          </a:bodyPr>
          <a:p>
            <a:r>
              <a:rPr lang="en-US" altLang="en-US" sz="1900"/>
              <a:t>Purpose: Used to create different types of charts in R, widely used in time series visualization.</a:t>
            </a:r>
            <a:endParaRPr lang="en-US" altLang="en-US" sz="1900"/>
          </a:p>
          <a:p>
            <a:r>
              <a:rPr lang="en-US" altLang="en-US" sz="1900"/>
              <a:t>Customization: Graphical parameters like col (color), font, lwd (line width), lty (line type), cex (size of points/text) enhance visual appeal.</a:t>
            </a:r>
            <a:endParaRPr lang="en-US" altLang="en-US" sz="1900"/>
          </a:p>
          <a:p>
            <a:r>
              <a:rPr lang="en-US" altLang="en-US" sz="1900"/>
              <a:t>Basic Syntax: plot(x, y, type, main, sub, xlab, ylab, …)</a:t>
            </a:r>
            <a:endParaRPr lang="en-US" altLang="en-US" sz="1900"/>
          </a:p>
          <a:p>
            <a:pPr marL="0" indent="0">
              <a:buNone/>
            </a:pPr>
            <a:r>
              <a:rPr lang="en-US" altLang="en-US" sz="1900"/>
              <a:t>Arguments:</a:t>
            </a:r>
            <a:endParaRPr lang="en-US" altLang="en-US" sz="1900"/>
          </a:p>
          <a:p>
            <a:r>
              <a:rPr lang="en-US" altLang="en-US" sz="1900"/>
              <a:t>x → X-axis coordinates (any R object)</a:t>
            </a:r>
            <a:endParaRPr lang="en-US" altLang="en-US" sz="1900"/>
          </a:p>
          <a:p>
            <a:r>
              <a:rPr lang="en-US" altLang="en-US" sz="1900"/>
              <a:t>y → Y-axis coordinates (optional)</a:t>
            </a:r>
            <a:endParaRPr lang="en-US" altLang="en-US" sz="1900"/>
          </a:p>
          <a:p>
            <a:r>
              <a:rPr lang="en-US" altLang="en-US" sz="1900"/>
              <a:t>type → Type of plot (lines, points, etc.)</a:t>
            </a:r>
            <a:endParaRPr lang="en-US" altLang="en-US" sz="1900"/>
          </a:p>
          <a:p>
            <a:r>
              <a:rPr lang="en-US" altLang="en-US" sz="1900"/>
              <a:t>main → Overall title</a:t>
            </a:r>
            <a:endParaRPr lang="en-US" altLang="en-US" sz="1900"/>
          </a:p>
          <a:p>
            <a:r>
              <a:rPr lang="en-US" altLang="en-US" sz="1900"/>
              <a:t>sub → Subtitle</a:t>
            </a:r>
            <a:endParaRPr lang="en-US" altLang="en-US" sz="1900"/>
          </a:p>
          <a:p>
            <a:r>
              <a:rPr lang="en-US" altLang="en-US" sz="1900"/>
              <a:t>xlab / ylab → Axis labels</a:t>
            </a:r>
            <a:endParaRPr lang="en-US" altLang="en-US" sz="1900"/>
          </a:p>
          <a:p>
            <a:r>
              <a:rPr lang="en-US" altLang="en-US" sz="1900"/>
              <a:t>… → Other optional parameters</a:t>
            </a:r>
            <a:endParaRPr lang="en-US" altLang="en-US" sz="1900"/>
          </a:p>
          <a:p>
            <a:r>
              <a:rPr lang="en-US" altLang="en-US" sz="1900"/>
              <a:t>plot() is versatile; combining it with other graphical parameters makes your plots more informative and visually appealing.</a:t>
            </a:r>
            <a:endParaRPr lang="en-US" altLang="en-US" sz="1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600075" y="1395095"/>
            <a:ext cx="7719060" cy="40557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29895" y="980440"/>
            <a:ext cx="8491855" cy="52571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hist() Function in R</a:t>
            </a:r>
            <a:endParaRPr lang="en-US" altLang="en-US"/>
          </a:p>
        </p:txBody>
      </p:sp>
      <p:sp>
        <p:nvSpPr>
          <p:cNvPr id="3" name="Content Placeholder 2"/>
          <p:cNvSpPr>
            <a:spLocks noGrp="1"/>
          </p:cNvSpPr>
          <p:nvPr>
            <p:ph idx="1"/>
          </p:nvPr>
        </p:nvSpPr>
        <p:spPr/>
        <p:txBody>
          <a:bodyPr>
            <a:normAutofit fontScale="80000"/>
          </a:bodyPr>
          <a:p>
            <a:r>
              <a:rPr lang="en-US" altLang="en-US"/>
              <a:t>Purpose: Used to create a histogram, which represents a dataset using bars of different heights.</a:t>
            </a:r>
            <a:endParaRPr lang="en-US" altLang="en-US"/>
          </a:p>
          <a:p>
            <a:r>
              <a:rPr lang="en-US" altLang="en-US"/>
              <a:t>How it works: Divides the data into ranges (bins) and plots bars according to frequency in each range.</a:t>
            </a:r>
            <a:endParaRPr lang="en-US" altLang="en-US"/>
          </a:p>
          <a:p>
            <a:pPr marL="0" indent="0">
              <a:buNone/>
            </a:pPr>
            <a:r>
              <a:rPr lang="en-US" altLang="en-US"/>
              <a:t>Basic Syntax:hist(x, …)</a:t>
            </a:r>
            <a:endParaRPr lang="en-US" altLang="en-US"/>
          </a:p>
          <a:p>
            <a:r>
              <a:rPr lang="en-US" altLang="en-US"/>
              <a:t>x → Vector of values for which the histogram is drawn</a:t>
            </a:r>
            <a:endParaRPr lang="en-US" altLang="en-US"/>
          </a:p>
          <a:p>
            <a:r>
              <a:rPr lang="en-US" altLang="en-US"/>
              <a:t>… → Other optional arguments for customization (color, labels, etc.)</a:t>
            </a:r>
            <a:endParaRPr lang="en-US" altLang="en-US"/>
          </a:p>
          <a:p>
            <a:r>
              <a:rPr lang="en-US" altLang="en-US"/>
              <a:t>Histograms help visualize the distribution of data and identify patterns like clustering or gaps.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47320" y="742950"/>
            <a:ext cx="8613140" cy="55733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pie() Function in R</a:t>
            </a:r>
            <a:endParaRPr lang="en-US" altLang="en-US"/>
          </a:p>
        </p:txBody>
      </p:sp>
      <p:sp>
        <p:nvSpPr>
          <p:cNvPr id="3" name="Content Placeholder 2"/>
          <p:cNvSpPr>
            <a:spLocks noGrp="1"/>
          </p:cNvSpPr>
          <p:nvPr>
            <p:ph idx="1"/>
          </p:nvPr>
        </p:nvSpPr>
        <p:spPr/>
        <p:txBody>
          <a:bodyPr>
            <a:normAutofit fontScale="60000"/>
          </a:bodyPr>
          <a:p>
            <a:r>
              <a:rPr lang="en-US" altLang="en-US"/>
              <a:t>Purpose: Used to create a pie chart, which shows data as slices of a circle representing proportions.</a:t>
            </a:r>
            <a:endParaRPr lang="en-US" altLang="en-US"/>
          </a:p>
          <a:p>
            <a:r>
              <a:rPr lang="en-US" altLang="en-US"/>
              <a:t>Basic Syntax:</a:t>
            </a:r>
            <a:endParaRPr lang="en-US" altLang="en-US"/>
          </a:p>
          <a:p>
            <a:pPr marL="0" indent="0">
              <a:buNone/>
            </a:pPr>
            <a:r>
              <a:rPr lang="en-US" altLang="en-US"/>
              <a:t>pie(x, labels = names(x), edges = 200, radius = 0.8,  clockwise = FALSE, init.angle = if(clockwise) 90 else 0,  density = NULL, angle = 45, col = NULL, border = NULL,     lty = NULL, main = NULL, …)</a:t>
            </a:r>
            <a:endParaRPr lang="en-US" altLang="en-US"/>
          </a:p>
          <a:p>
            <a:endParaRPr lang="en-US" altLang="en-US"/>
          </a:p>
          <a:p>
            <a:r>
              <a:rPr lang="en-US" altLang="en-US"/>
              <a:t>x → Vector of numerical values</a:t>
            </a:r>
            <a:endParaRPr lang="en-US" altLang="en-US"/>
          </a:p>
          <a:p>
            <a:r>
              <a:rPr lang="en-US" altLang="en-US"/>
              <a:t>labels → Names of slices</a:t>
            </a:r>
            <a:endParaRPr lang="en-US" altLang="en-US"/>
          </a:p>
          <a:p>
            <a:r>
              <a:rPr lang="en-US" altLang="en-US"/>
              <a:t>col → Colors for slices</a:t>
            </a:r>
            <a:endParaRPr lang="en-US" altLang="en-US"/>
          </a:p>
          <a:p>
            <a:r>
              <a:rPr lang="en-US" altLang="en-US"/>
              <a:t>main → Title of the chart</a:t>
            </a:r>
            <a:endParaRPr lang="en-US" altLang="en-US"/>
          </a:p>
          <a:p>
            <a:r>
              <a:rPr lang="en-US" altLang="en-US"/>
              <a:t>clockwise → Direction of slices</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863600"/>
          </a:xfrm>
        </p:spPr>
        <p:txBody>
          <a:bodyPr/>
          <a:p>
            <a:r>
              <a:rPr lang="en-US" altLang="en-US"/>
              <a:t>Example Steps:</a:t>
            </a:r>
            <a:endParaRPr lang="en-US" altLang="en-US"/>
          </a:p>
        </p:txBody>
      </p:sp>
      <p:sp>
        <p:nvSpPr>
          <p:cNvPr id="3" name="Content Placeholder 2"/>
          <p:cNvSpPr>
            <a:spLocks noGrp="1"/>
          </p:cNvSpPr>
          <p:nvPr>
            <p:ph idx="1"/>
          </p:nvPr>
        </p:nvSpPr>
        <p:spPr/>
        <p:txBody>
          <a:bodyPr/>
          <a:p>
            <a:pPr marL="0" indent="0">
              <a:buNone/>
            </a:pPr>
            <a:r>
              <a:rPr lang="en-US" altLang="en-US"/>
              <a:t>1. Create data vector:B &lt;- c(2, 4, 5, 7, 12, 14, 16)</a:t>
            </a:r>
            <a:endParaRPr lang="en-US" altLang="en-US"/>
          </a:p>
          <a:p>
            <a:pPr marL="0" indent="0">
              <a:buNone/>
            </a:pPr>
            <a:r>
              <a:rPr lang="en-US" altLang="en-US"/>
              <a:t>2. Simple pie chart: pie(B)</a:t>
            </a:r>
            <a:endParaRPr lang="en-US" altLang="en-US"/>
          </a:p>
          <a:p>
            <a:pPr marL="0" indent="0">
              <a:buNone/>
            </a:pPr>
            <a:endParaRPr lang="en-US" altLang="en-US"/>
          </a:p>
          <a:p>
            <a:pPr marL="0" indent="0">
              <a:buNone/>
            </a:pPr>
            <a:endParaRPr lang="en-US" altLang="en-US"/>
          </a:p>
        </p:txBody>
      </p:sp>
      <p:pic>
        <p:nvPicPr>
          <p:cNvPr id="4" name="Picture 3"/>
          <p:cNvPicPr>
            <a:picLocks noChangeAspect="1"/>
          </p:cNvPicPr>
          <p:nvPr/>
        </p:nvPicPr>
        <p:blipFill>
          <a:blip r:embed="rId1"/>
          <a:stretch>
            <a:fillRect/>
          </a:stretch>
        </p:blipFill>
        <p:spPr>
          <a:xfrm>
            <a:off x="481965" y="3096260"/>
            <a:ext cx="8159115" cy="33521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19075" y="1134110"/>
            <a:ext cx="8340725" cy="38665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06705" y="137160"/>
            <a:ext cx="8229600" cy="2654935"/>
          </a:xfrm>
        </p:spPr>
        <p:txBody>
          <a:bodyPr>
            <a:normAutofit/>
          </a:bodyPr>
          <a:p>
            <a:pPr marL="0" indent="0">
              <a:buNone/>
            </a:pPr>
            <a:r>
              <a:rPr lang="en-US" sz="2220"/>
              <a:t>4. </a:t>
            </a:r>
            <a:r>
              <a:rPr lang="en-US" altLang="en-US" sz="2220"/>
              <a:t>Black/Grey/White colors for printing:</a:t>
            </a:r>
            <a:endParaRPr lang="en-US" altLang="en-US" sz="2220"/>
          </a:p>
          <a:p>
            <a:pPr marL="0" indent="0">
              <a:buNone/>
            </a:pPr>
            <a:r>
              <a:rPr lang="en-US" altLang="en-US" sz="2220"/>
              <a:t>cols&lt;c("grey90","grey50","black","grey30","white","grey70","grey50")</a:t>
            </a:r>
            <a:endParaRPr lang="en-US" altLang="en-US" sz="2220"/>
          </a:p>
          <a:p>
            <a:pPr marL="0" indent="0">
              <a:buNone/>
            </a:pPr>
            <a:r>
              <a:rPr lang="en-US" altLang="en-US" sz="2220"/>
              <a:t>5. Add percentages as labels:</a:t>
            </a:r>
            <a:endParaRPr lang="en-US" altLang="en-US" sz="2220"/>
          </a:p>
          <a:p>
            <a:pPr marL="0" indent="0">
              <a:buNone/>
            </a:pPr>
            <a:r>
              <a:rPr lang="en-US" altLang="en-US" sz="2220"/>
              <a:t>percentlabels &lt;- round(100*B/sum(B),1)</a:t>
            </a:r>
            <a:endParaRPr lang="en-US" altLang="en-US" sz="2220"/>
          </a:p>
          <a:p>
            <a:pPr marL="0" indent="0">
              <a:buNone/>
            </a:pPr>
            <a:r>
              <a:rPr lang="en-US" altLang="en-US" sz="2220"/>
              <a:t>pielabels &lt;- paste(percentlabels, "%", sep="")</a:t>
            </a:r>
            <a:endParaRPr lang="en-US" altLang="en-US" sz="2220"/>
          </a:p>
          <a:p>
            <a:pPr marL="0" indent="0">
              <a:buNone/>
            </a:pPr>
            <a:endParaRPr lang="en-US" altLang="en-US"/>
          </a:p>
          <a:p>
            <a:pPr marL="0" indent="0">
              <a:buNone/>
            </a:pPr>
            <a:endParaRPr lang="en-US" altLang="en-US"/>
          </a:p>
        </p:txBody>
      </p:sp>
      <p:pic>
        <p:nvPicPr>
          <p:cNvPr id="4" name="Picture 3"/>
          <p:cNvPicPr>
            <a:picLocks noChangeAspect="1"/>
          </p:cNvPicPr>
          <p:nvPr/>
        </p:nvPicPr>
        <p:blipFill>
          <a:blip r:embed="rId1"/>
          <a:stretch>
            <a:fillRect/>
          </a:stretch>
        </p:blipFill>
        <p:spPr>
          <a:xfrm>
            <a:off x="367665" y="2205355"/>
            <a:ext cx="7811770" cy="43510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22910" y="861060"/>
            <a:ext cx="8145780" cy="54216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boxplot() Function in R </a:t>
            </a:r>
            <a:endParaRPr lang="en-US"/>
          </a:p>
        </p:txBody>
      </p:sp>
      <p:sp>
        <p:nvSpPr>
          <p:cNvPr id="3" name="Content Placeholder 2"/>
          <p:cNvSpPr>
            <a:spLocks noGrp="1"/>
          </p:cNvSpPr>
          <p:nvPr>
            <p:ph idx="1"/>
          </p:nvPr>
        </p:nvSpPr>
        <p:spPr>
          <a:xfrm>
            <a:off x="457200" y="1386840"/>
            <a:ext cx="8229600" cy="5233670"/>
          </a:xfrm>
        </p:spPr>
        <p:txBody>
          <a:bodyPr>
            <a:normAutofit fontScale="55000"/>
          </a:bodyPr>
          <a:p>
            <a:pPr marL="0" indent="0">
              <a:buNone/>
            </a:pPr>
            <a:endParaRPr lang="en-US" altLang="en-US"/>
          </a:p>
          <a:p>
            <a:r>
              <a:rPr lang="en-US" altLang="en-US"/>
              <a:t>Also called: Box-and-whiskers plot, introduced by John Tukey (1977).</a:t>
            </a:r>
            <a:endParaRPr lang="en-US" altLang="en-US"/>
          </a:p>
          <a:p>
            <a:pPr marL="0" indent="0">
              <a:buNone/>
            </a:pPr>
            <a:r>
              <a:rPr lang="en-US" altLang="en-US"/>
              <a:t>Purpose: Efficiently displays five key statistical measures:</a:t>
            </a:r>
            <a:endParaRPr lang="en-US" altLang="en-US"/>
          </a:p>
          <a:p>
            <a:r>
              <a:rPr lang="en-US" altLang="en-US"/>
              <a:t>Minimum (low value)</a:t>
            </a:r>
            <a:endParaRPr lang="en-US" altLang="en-US"/>
          </a:p>
          <a:p>
            <a:r>
              <a:rPr lang="en-US" altLang="en-US"/>
              <a:t>Lower quartile (25th percentile)</a:t>
            </a:r>
            <a:endParaRPr lang="en-US" altLang="en-US"/>
          </a:p>
          <a:p>
            <a:r>
              <a:rPr lang="en-US" altLang="en-US"/>
              <a:t>Median (50th percentile)</a:t>
            </a:r>
            <a:endParaRPr lang="en-US" altLang="en-US"/>
          </a:p>
          <a:p>
            <a:r>
              <a:rPr lang="en-US" altLang="en-US"/>
              <a:t>Upper quartile (75th percentile)</a:t>
            </a:r>
            <a:endParaRPr lang="en-US" altLang="en-US"/>
          </a:p>
          <a:p>
            <a:r>
              <a:rPr lang="en-US" altLang="en-US"/>
              <a:t>Maximum (high value)</a:t>
            </a:r>
            <a:endParaRPr lang="en-US" altLang="en-US"/>
          </a:p>
          <a:p>
            <a:r>
              <a:rPr lang="en-US" altLang="en-US"/>
              <a:t>Orientation: Can be drawn vertically or horizontally.</a:t>
            </a:r>
            <a:endParaRPr lang="en-US" altLang="en-US"/>
          </a:p>
          <a:p>
            <a:r>
              <a:rPr lang="en-US" altLang="en-US"/>
              <a:t>Usage: Often used alongside histograms for deeper data insights.</a:t>
            </a:r>
            <a:endParaRPr lang="en-US" altLang="en-US"/>
          </a:p>
          <a:p>
            <a:pPr marL="0" indent="0">
              <a:buNone/>
            </a:pPr>
            <a:r>
              <a:rPr lang="en-US" altLang="en-US"/>
              <a:t>Advantages:</a:t>
            </a:r>
            <a:endParaRPr lang="en-US" altLang="en-US"/>
          </a:p>
          <a:p>
            <a:r>
              <a:rPr lang="en-US" altLang="en-US"/>
              <a:t>Shows data symmetry and skewness</a:t>
            </a:r>
            <a:endParaRPr lang="en-US" altLang="en-US"/>
          </a:p>
          <a:p>
            <a:r>
              <a:rPr lang="en-US" altLang="en-US"/>
              <a:t>Highlights outliers</a:t>
            </a:r>
            <a:endParaRPr lang="en-US" altLang="en-US"/>
          </a:p>
          <a:p>
            <a:r>
              <a:rPr lang="en-US" altLang="en-US"/>
              <a:t>Enables easy comparison of multiple datasets</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Steps to Create a Boxplot</a:t>
            </a:r>
            <a:endParaRPr lang="en-US" altLang="en-US"/>
          </a:p>
        </p:txBody>
      </p:sp>
      <p:sp>
        <p:nvSpPr>
          <p:cNvPr id="3" name="Content Placeholder 2"/>
          <p:cNvSpPr>
            <a:spLocks noGrp="1"/>
          </p:cNvSpPr>
          <p:nvPr>
            <p:ph idx="1"/>
          </p:nvPr>
        </p:nvSpPr>
        <p:spPr/>
        <p:txBody>
          <a:bodyPr/>
          <a:p>
            <a:r>
              <a:rPr lang="en-US" altLang="en-US" sz="2000"/>
              <a:t>Step 1: We will use the “trees” dataset. This data set provides measurements of the girth(diameter in inches), height and volume of timber in 31 felled black cherry trees. Use the head() function to view the top six rows from the data set.</a:t>
            </a:r>
            <a:endParaRPr lang="en-US" altLang="en-US" sz="2000"/>
          </a:p>
          <a:p>
            <a:endParaRPr lang="en-US" altLang="en-US" sz="2000"/>
          </a:p>
        </p:txBody>
      </p:sp>
      <p:pic>
        <p:nvPicPr>
          <p:cNvPr id="4" name="Picture 3"/>
          <p:cNvPicPr>
            <a:picLocks noChangeAspect="1"/>
          </p:cNvPicPr>
          <p:nvPr/>
        </p:nvPicPr>
        <p:blipFill>
          <a:blip r:embed="rId1"/>
          <a:stretch>
            <a:fillRect/>
          </a:stretch>
        </p:blipFill>
        <p:spPr>
          <a:xfrm>
            <a:off x="940435" y="3429000"/>
            <a:ext cx="3524250" cy="2182495"/>
          </a:xfrm>
          <a:prstGeom prst="rect">
            <a:avLst/>
          </a:prstGeom>
        </p:spPr>
      </p:pic>
      <p:pic>
        <p:nvPicPr>
          <p:cNvPr id="5" name="Picture 4"/>
          <p:cNvPicPr>
            <a:picLocks noChangeAspect="1"/>
          </p:cNvPicPr>
          <p:nvPr/>
        </p:nvPicPr>
        <p:blipFill>
          <a:blip r:embed="rId2"/>
          <a:stretch>
            <a:fillRect/>
          </a:stretch>
        </p:blipFill>
        <p:spPr>
          <a:xfrm>
            <a:off x="4845050" y="2792730"/>
            <a:ext cx="3778250" cy="35718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77825"/>
            <a:ext cx="8229600" cy="5748655"/>
          </a:xfrm>
        </p:spPr>
        <p:txBody>
          <a:bodyPr/>
          <a:p>
            <a:r>
              <a:rPr lang="en-US" altLang="en-US" sz="2400"/>
              <a:t>Step 2: Plot the boxplot using the boxplot() function. Boxplot is used to show the five magic numbers, viz., minimum, maximum, median, lower quartile and upper quartile.</a:t>
            </a:r>
            <a:endParaRPr lang="en-US" altLang="en-US" sz="2400"/>
          </a:p>
          <a:p>
            <a:endParaRPr lang="en-US" altLang="en-US" sz="2400"/>
          </a:p>
        </p:txBody>
      </p:sp>
      <p:pic>
        <p:nvPicPr>
          <p:cNvPr id="4" name="Picture 3"/>
          <p:cNvPicPr>
            <a:picLocks noChangeAspect="1"/>
          </p:cNvPicPr>
          <p:nvPr/>
        </p:nvPicPr>
        <p:blipFill>
          <a:blip r:embed="rId1"/>
          <a:stretch>
            <a:fillRect/>
          </a:stretch>
        </p:blipFill>
        <p:spPr>
          <a:xfrm>
            <a:off x="1209675" y="1901825"/>
            <a:ext cx="5909945" cy="39401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481330"/>
            <a:ext cx="8229600" cy="5645150"/>
          </a:xfrm>
        </p:spPr>
        <p:txBody>
          <a:bodyPr/>
          <a:p>
            <a:r>
              <a:rPr lang="en-US" altLang="en-US" sz="2800"/>
              <a:t>Step 3: Use parameters such as “main” to provide an overall title to the plot and “ylab” to provide label to the Y-axis, etc.</a:t>
            </a:r>
            <a:endParaRPr lang="en-US" altLang="en-US" sz="2800"/>
          </a:p>
          <a:p>
            <a:endParaRPr lang="en-US" altLang="en-US" sz="2800"/>
          </a:p>
        </p:txBody>
      </p:sp>
      <p:pic>
        <p:nvPicPr>
          <p:cNvPr id="4" name="Picture 3"/>
          <p:cNvPicPr>
            <a:picLocks noChangeAspect="1"/>
          </p:cNvPicPr>
          <p:nvPr/>
        </p:nvPicPr>
        <p:blipFill>
          <a:blip r:embed="rId1"/>
          <a:stretch>
            <a:fillRect/>
          </a:stretch>
        </p:blipFill>
        <p:spPr>
          <a:xfrm>
            <a:off x="456565" y="2125345"/>
            <a:ext cx="8222615" cy="41478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8595" y="-84137"/>
            <a:ext cx="8229600" cy="1143000"/>
          </a:xfrm>
        </p:spPr>
        <p:txBody>
          <a:bodyPr/>
          <a:p>
            <a:r>
              <a:rPr lang="en-US" altLang="en-US">
                <a:sym typeface="+mn-ea"/>
              </a:rPr>
              <a:t>stripchart() Function in R</a:t>
            </a:r>
            <a:endParaRPr lang="en-US"/>
          </a:p>
        </p:txBody>
      </p:sp>
      <p:sp>
        <p:nvSpPr>
          <p:cNvPr id="3" name="Content Placeholder 2"/>
          <p:cNvSpPr>
            <a:spLocks noGrp="1"/>
          </p:cNvSpPr>
          <p:nvPr>
            <p:ph idx="1"/>
          </p:nvPr>
        </p:nvSpPr>
        <p:spPr>
          <a:xfrm>
            <a:off x="457200" y="678180"/>
            <a:ext cx="8229600" cy="5448300"/>
          </a:xfrm>
        </p:spPr>
        <p:txBody>
          <a:bodyPr>
            <a:noAutofit/>
          </a:bodyPr>
          <a:p>
            <a:pPr marL="0" indent="0">
              <a:buNone/>
            </a:pPr>
            <a:endParaRPr lang="en-US" altLang="en-US" sz="1500"/>
          </a:p>
          <a:p>
            <a:r>
              <a:rPr lang="en-US" altLang="en-US" sz="2300"/>
              <a:t>Purpose: Creates one-dimensional scatter plots (dot plots) to visualize data points along a single axis.</a:t>
            </a:r>
            <a:endParaRPr lang="en-US" altLang="en-US" sz="2300"/>
          </a:p>
          <a:p>
            <a:r>
              <a:rPr lang="en-US" altLang="en-US" sz="2300"/>
              <a:t>Best Use: Works well for small sample sizes as an alternative to boxplots.</a:t>
            </a:r>
            <a:endParaRPr lang="en-US" altLang="en-US" sz="2300"/>
          </a:p>
          <a:p>
            <a:r>
              <a:rPr lang="en-US" altLang="en-US" sz="2300"/>
              <a:t>Example Dataset: airquality dataset with 153 observations on variables: Ozone, Solar.R, Wind, Temp, Month, Day.</a:t>
            </a:r>
            <a:endParaRPr lang="en-US" altLang="en-US" sz="2300"/>
          </a:p>
          <a:p>
            <a:r>
              <a:rPr lang="en-US" altLang="en-US" sz="2300"/>
              <a:t>Basic Usage:</a:t>
            </a:r>
            <a:endParaRPr lang="en-US" altLang="en-US" sz="2300"/>
          </a:p>
          <a:p>
            <a:pPr marL="0" indent="0">
              <a:buNone/>
            </a:pPr>
            <a:r>
              <a:rPr lang="en-US" altLang="en-US" sz="2300"/>
              <a:t>stripchart(airquality$Ozone, method="jitter", pch=19, col="blue",  main="Ozone Levels in Airquality Dataset")</a:t>
            </a:r>
            <a:endParaRPr lang="en-US" altLang="en-US" sz="2300"/>
          </a:p>
          <a:p>
            <a:r>
              <a:rPr lang="en-US" altLang="en-US" sz="2300"/>
              <a:t>method="jitter" → spreads points to avoid overlap</a:t>
            </a:r>
            <a:endParaRPr lang="en-US" altLang="en-US" sz="2300"/>
          </a:p>
          <a:p>
            <a:r>
              <a:rPr lang="en-US" altLang="en-US" sz="2300"/>
              <a:t>pch → symbol/point type</a:t>
            </a:r>
            <a:endParaRPr lang="en-US" altLang="en-US" sz="2300"/>
          </a:p>
          <a:p>
            <a:r>
              <a:rPr lang="en-US" altLang="en-US" sz="2300"/>
              <a:t>col → color of points</a:t>
            </a:r>
            <a:endParaRPr lang="en-US" altLang="en-US" sz="2300"/>
          </a:p>
          <a:p>
            <a:r>
              <a:rPr lang="en-US" altLang="en-US" sz="2300"/>
              <a:t>main → title of the plot</a:t>
            </a:r>
            <a:endParaRPr lang="en-US" altLang="en-US" sz="2300"/>
          </a:p>
          <a:p>
            <a:pPr marL="0" indent="0">
              <a:buNone/>
            </a:pPr>
            <a:r>
              <a:rPr lang="en-US" altLang="en-US" sz="2300"/>
              <a:t>Stripcharts allow you to see individual data points clearly, making them helpful for small datasets or detailed comparisons.</a:t>
            </a:r>
            <a:endParaRPr lang="en-US" altLang="en-US" sz="23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06998"/>
            <a:ext cx="8229600" cy="1143000"/>
          </a:xfrm>
        </p:spPr>
        <p:txBody>
          <a:bodyPr/>
          <a:p>
            <a:r>
              <a:rPr lang="en-US"/>
              <a:t>Example steps</a:t>
            </a:r>
            <a:endParaRPr lang="en-US"/>
          </a:p>
        </p:txBody>
      </p:sp>
      <p:pic>
        <p:nvPicPr>
          <p:cNvPr id="4" name="Content Placeholder 3"/>
          <p:cNvPicPr>
            <a:picLocks noChangeAspect="1"/>
          </p:cNvPicPr>
          <p:nvPr>
            <p:ph idx="1"/>
          </p:nvPr>
        </p:nvPicPr>
        <p:blipFill>
          <a:blip r:embed="rId1"/>
          <a:stretch>
            <a:fillRect/>
          </a:stretch>
        </p:blipFill>
        <p:spPr>
          <a:xfrm>
            <a:off x="492125" y="1010920"/>
            <a:ext cx="8231505" cy="53981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04140" y="200660"/>
            <a:ext cx="8858250" cy="62445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curve() Function in R</a:t>
            </a:r>
            <a:endParaRPr lang="en-US" altLang="en-US"/>
          </a:p>
        </p:txBody>
      </p:sp>
      <p:sp>
        <p:nvSpPr>
          <p:cNvPr id="3" name="Content Placeholder 2"/>
          <p:cNvSpPr>
            <a:spLocks noGrp="1"/>
          </p:cNvSpPr>
          <p:nvPr>
            <p:ph idx="1"/>
          </p:nvPr>
        </p:nvSpPr>
        <p:spPr/>
        <p:txBody>
          <a:bodyPr>
            <a:normAutofit fontScale="60000"/>
          </a:bodyPr>
          <a:p>
            <a:r>
              <a:rPr lang="en-US" altLang="en-US"/>
              <a:t>Purpose: Draws a curve of a function over a specified interval.</a:t>
            </a:r>
            <a:endParaRPr lang="en-US" altLang="en-US"/>
          </a:p>
          <a:p>
            <a:r>
              <a:rPr lang="en-US" altLang="en-US"/>
              <a:t>Usage: Can plot a mathematical expression or a vectorized function in x.</a:t>
            </a:r>
            <a:endParaRPr lang="en-US" altLang="en-US"/>
          </a:p>
          <a:p>
            <a:r>
              <a:rPr lang="en-US" altLang="en-US"/>
              <a:t>Basic Syntax: curve(expr, from = NULL, to = NULL, n = 101, add = FALSE, type = "l", xname = "x", xlab = xname, ylab = NULL, ...)</a:t>
            </a:r>
            <a:endParaRPr lang="en-US" altLang="en-US"/>
          </a:p>
          <a:p>
            <a:r>
              <a:rPr lang="en-US" altLang="en-US"/>
              <a:t>expr → Function or expression to plot</a:t>
            </a:r>
            <a:endParaRPr lang="en-US" altLang="en-US"/>
          </a:p>
          <a:p>
            <a:r>
              <a:rPr lang="en-US" altLang="en-US"/>
              <a:t>from, to → Range of x-values</a:t>
            </a:r>
            <a:endParaRPr lang="en-US" altLang="en-US"/>
          </a:p>
          <a:p>
            <a:r>
              <a:rPr lang="en-US" altLang="en-US"/>
              <a:t>n → Number of points used to draw the curve</a:t>
            </a:r>
            <a:endParaRPr lang="en-US" altLang="en-US"/>
          </a:p>
          <a:p>
            <a:r>
              <a:rPr lang="en-US" altLang="en-US"/>
              <a:t>add → Whether to add to an existing plot (TRUE/FALSE)</a:t>
            </a:r>
            <a:endParaRPr lang="en-US" altLang="en-US"/>
          </a:p>
          <a:p>
            <a:r>
              <a:rPr lang="en-US" altLang="en-US"/>
              <a:t>type → Type of plot line ("l" for line)</a:t>
            </a:r>
            <a:endParaRPr lang="en-US" altLang="en-US"/>
          </a:p>
          <a:p>
            <a:r>
              <a:rPr lang="en-US" altLang="en-US"/>
              <a:t>xlab / ylab → Axis labels</a:t>
            </a:r>
            <a:endParaRPr lang="en-US" altLang="en-US"/>
          </a:p>
          <a:p>
            <a:pPr marL="0" indent="0">
              <a:buNone/>
            </a:pPr>
            <a:r>
              <a:rPr lang="en-US" altLang="en-US"/>
              <a:t>ex: curve(x^2, from=1, to=50, xlab="x", ylab="y")</a:t>
            </a:r>
            <a:endParaRPr lang="en-US" altLang="en-US"/>
          </a:p>
          <a:p>
            <a:pPr marL="0" indent="0">
              <a:buNone/>
            </a:pPr>
            <a:r>
              <a:rPr lang="en-US" altLang="en-US"/>
              <a:t>curve() is ideal for visualizing functions and understanding their behavior over a range of values.</a:t>
            </a:r>
            <a:endParaRPr lang="en-US" altLang="en-US"/>
          </a:p>
          <a:p>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63880" y="683895"/>
            <a:ext cx="7992110" cy="51092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u="sng"/>
              <a:t>Basic R Commands for Data Manipulation</a:t>
            </a:r>
            <a:endParaRPr lang="en-US" altLang="en-US" u="sng"/>
          </a:p>
        </p:txBody>
      </p:sp>
      <p:sp>
        <p:nvSpPr>
          <p:cNvPr id="3" name="Content Placeholder 2"/>
          <p:cNvSpPr>
            <a:spLocks noGrp="1"/>
          </p:cNvSpPr>
          <p:nvPr>
            <p:ph idx="1"/>
          </p:nvPr>
        </p:nvSpPr>
        <p:spPr/>
        <p:txBody>
          <a:bodyPr>
            <a:normAutofit fontScale="70000"/>
          </a:bodyPr>
          <a:p>
            <a:pPr marL="0" indent="0">
              <a:buNone/>
            </a:pPr>
            <a:r>
              <a:rPr lang="en-US" altLang="en-US"/>
              <a:t>Purpose: Time series analysis often requires operations like:</a:t>
            </a:r>
            <a:endParaRPr lang="en-US" altLang="en-US"/>
          </a:p>
          <a:p>
            <a:r>
              <a:rPr lang="en-US" altLang="en-US"/>
              <a:t>Arithmetic mean</a:t>
            </a:r>
            <a:endParaRPr lang="en-US" altLang="en-US"/>
          </a:p>
          <a:p>
            <a:r>
              <a:rPr lang="en-US" altLang="en-US"/>
              <a:t>Standard deviation</a:t>
            </a:r>
            <a:endParaRPr lang="en-US" altLang="en-US"/>
          </a:p>
          <a:p>
            <a:r>
              <a:rPr lang="en-US" altLang="en-US"/>
              <a:t>Differences between observations</a:t>
            </a:r>
            <a:endParaRPr lang="en-US" altLang="en-US"/>
          </a:p>
          <a:p>
            <a:r>
              <a:rPr lang="en-US" altLang="en-US"/>
              <a:t>Probability distributions</a:t>
            </a:r>
            <a:endParaRPr lang="en-US" altLang="en-US"/>
          </a:p>
          <a:p>
            <a:r>
              <a:rPr lang="en-US" altLang="en-US"/>
              <a:t>Density estimation</a:t>
            </a:r>
            <a:endParaRPr lang="en-US" altLang="en-US"/>
          </a:p>
          <a:p>
            <a:r>
              <a:rPr lang="en-US" altLang="en-US"/>
              <a:t>R Commands: R provides various built-in functions to perform these operations efficiently and manipulate time series data.</a:t>
            </a:r>
            <a:endParaRPr lang="en-US" altLang="en-US"/>
          </a:p>
          <a:p>
            <a:r>
              <a:rPr lang="en-US" altLang="en-US"/>
              <a:t> Understanding these functions helps in summarizing, visualizing, and forecasting time-dependent data effectively.</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59080" y="930910"/>
            <a:ext cx="8251190" cy="482473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Example – Time Series Analysis in R</a:t>
            </a:r>
            <a:endParaRPr lang="en-US"/>
          </a:p>
        </p:txBody>
      </p:sp>
      <p:sp>
        <p:nvSpPr>
          <p:cNvPr id="3" name="Content Placeholder 2"/>
          <p:cNvSpPr>
            <a:spLocks noGrp="1"/>
          </p:cNvSpPr>
          <p:nvPr>
            <p:ph idx="1"/>
          </p:nvPr>
        </p:nvSpPr>
        <p:spPr>
          <a:xfrm>
            <a:off x="457200" y="1600200"/>
            <a:ext cx="8229600" cy="4740910"/>
          </a:xfrm>
        </p:spPr>
        <p:txBody>
          <a:bodyPr>
            <a:normAutofit fontScale="60000"/>
          </a:bodyPr>
          <a:p>
            <a:endParaRPr lang="en-US" altLang="en-US"/>
          </a:p>
          <a:p>
            <a:r>
              <a:rPr lang="en-US" altLang="en-US"/>
              <a:t>Creating Data: An object d is created to perform various time series operations.</a:t>
            </a:r>
            <a:endParaRPr lang="en-US" altLang="en-US"/>
          </a:p>
          <a:p>
            <a:pPr marL="0" indent="0">
              <a:buNone/>
            </a:pPr>
            <a:r>
              <a:rPr lang="en-US" altLang="en-US"/>
              <a:t>Functions Used:</a:t>
            </a:r>
            <a:endParaRPr lang="en-US" altLang="en-US"/>
          </a:p>
          <a:p>
            <a:r>
              <a:rPr lang="en-US" altLang="en-US"/>
              <a:t>Functions like mean(), sd(), diff() help in basic statistical calculations.</a:t>
            </a:r>
            <a:endParaRPr lang="en-US" altLang="en-US"/>
          </a:p>
          <a:p>
            <a:r>
              <a:rPr lang="en-US" altLang="en-US"/>
              <a:t>pnorm() and qnorm() are used to analyze probability distributions of the data.</a:t>
            </a:r>
            <a:endParaRPr lang="en-US" altLang="en-US"/>
          </a:p>
          <a:p>
            <a:endParaRPr lang="en-US" altLang="en-US"/>
          </a:p>
          <a:p>
            <a:r>
              <a:rPr lang="en-US" altLang="en-US"/>
              <a:t>Purpose: These functions help in understanding distribution properties, trends, and variability in time series data.</a:t>
            </a:r>
            <a:endParaRPr lang="en-US" altLang="en-US"/>
          </a:p>
          <a:p>
            <a:r>
              <a:rPr lang="en-US" altLang="en-US"/>
              <a:t>Visualization: Figure 8.14  demonstrates how these functions work in practice.</a:t>
            </a:r>
            <a:endParaRPr lang="en-US" altLang="en-US"/>
          </a:p>
          <a:p>
            <a:r>
              <a:rPr lang="en-US" altLang="en-US"/>
              <a:t>Combining these commands allows you to summarize and model time series data efficiently in R.</a:t>
            </a: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120140" y="1143635"/>
            <a:ext cx="6280150" cy="49479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mean() Function</a:t>
            </a:r>
            <a:endParaRPr lang="en-US" altLang="en-US"/>
          </a:p>
        </p:txBody>
      </p:sp>
      <p:sp>
        <p:nvSpPr>
          <p:cNvPr id="3" name="Content Placeholder 2"/>
          <p:cNvSpPr>
            <a:spLocks noGrp="1"/>
          </p:cNvSpPr>
          <p:nvPr>
            <p:ph idx="1"/>
          </p:nvPr>
        </p:nvSpPr>
        <p:spPr>
          <a:xfrm>
            <a:off x="457200" y="1417955"/>
            <a:ext cx="8229600" cy="4525963"/>
          </a:xfrm>
        </p:spPr>
        <p:txBody>
          <a:bodyPr>
            <a:normAutofit fontScale="60000"/>
          </a:bodyPr>
          <a:p>
            <a:pPr marL="0" indent="0">
              <a:buNone/>
            </a:pPr>
            <a:r>
              <a:rPr lang="en-US" altLang="en-US"/>
              <a:t>Objective: To determine the mean of a set of numbers. Plot the numbers in a bar plot and have a straight line run through the plot at the mean.</a:t>
            </a:r>
            <a:endParaRPr lang="en-US" altLang="en-US"/>
          </a:p>
          <a:p>
            <a:pPr marL="0" indent="0">
              <a:buNone/>
            </a:pPr>
            <a:r>
              <a:rPr lang="en-US" altLang="en-US"/>
              <a:t>Step 1: Create a vector “numbers”.</a:t>
            </a:r>
            <a:endParaRPr lang="en-US" altLang="en-US"/>
          </a:p>
          <a:p>
            <a:pPr marL="0" indent="0">
              <a:buNone/>
            </a:pPr>
            <a:r>
              <a:rPr lang="en-US" altLang="en-US"/>
              <a:t>&gt; numbers &lt;- c(1, 3, 5, 2, 8, 7, 9, 10)</a:t>
            </a:r>
            <a:endParaRPr lang="en-US" altLang="en-US"/>
          </a:p>
          <a:p>
            <a:pPr marL="0" indent="0">
              <a:buNone/>
            </a:pPr>
            <a:r>
              <a:rPr lang="en-US" altLang="en-US"/>
              <a:t>Step 2: Compute the mean value of the set of numbers contained in the vector “numbers”.</a:t>
            </a:r>
            <a:endParaRPr lang="en-US" altLang="en-US"/>
          </a:p>
          <a:p>
            <a:pPr marL="0" indent="0">
              <a:buNone/>
            </a:pPr>
            <a:r>
              <a:rPr lang="en-US" altLang="en-US"/>
              <a:t>&gt; mean(numbers)</a:t>
            </a:r>
            <a:endParaRPr lang="en-US" altLang="en-US"/>
          </a:p>
          <a:p>
            <a:pPr marL="0" indent="0">
              <a:buNone/>
            </a:pPr>
            <a:r>
              <a:rPr lang="en-US" altLang="en-US"/>
              <a:t>[1] 5.625</a:t>
            </a:r>
            <a:endParaRPr lang="en-US" altLang="en-US"/>
          </a:p>
          <a:p>
            <a:pPr marL="0" indent="0">
              <a:buNone/>
            </a:pPr>
            <a:r>
              <a:rPr lang="en-US" altLang="en-US"/>
              <a:t>Outcome: The mean value for the</a:t>
            </a:r>
            <a:endParaRPr lang="en-US" altLang="en-US"/>
          </a:p>
          <a:p>
            <a:pPr marL="0" indent="0">
              <a:buNone/>
            </a:pPr>
            <a:r>
              <a:rPr lang="en-US" altLang="en-US"/>
              <a:t> vector “numbers” is computed as 5.625.</a:t>
            </a:r>
            <a:endParaRPr lang="en-US" altLang="en-US"/>
          </a:p>
          <a:p>
            <a:pPr marL="0" indent="0">
              <a:buNone/>
            </a:pPr>
            <a:r>
              <a:rPr lang="en-US" altLang="en-US"/>
              <a:t>Step 3: Plot a bar plot using the vector</a:t>
            </a:r>
            <a:endParaRPr lang="en-US" altLang="en-US"/>
          </a:p>
          <a:p>
            <a:pPr marL="0" indent="0">
              <a:buNone/>
            </a:pPr>
            <a:r>
              <a:rPr lang="en-US" altLang="en-US"/>
              <a:t> “numbers”.</a:t>
            </a:r>
            <a:endParaRPr lang="en-US" altLang="en-US"/>
          </a:p>
          <a:p>
            <a:pPr marL="0" indent="0">
              <a:buNone/>
            </a:pPr>
            <a:r>
              <a:rPr lang="en-US" altLang="en-US"/>
              <a:t>&gt; barplot(numbers)</a:t>
            </a:r>
            <a:endParaRPr lang="en-US" altLang="en-US"/>
          </a:p>
          <a:p>
            <a:endParaRPr lang="en-US" altLang="en-US"/>
          </a:p>
        </p:txBody>
      </p:sp>
      <p:pic>
        <p:nvPicPr>
          <p:cNvPr id="4" name="Picture 3"/>
          <p:cNvPicPr>
            <a:picLocks noChangeAspect="1"/>
          </p:cNvPicPr>
          <p:nvPr/>
        </p:nvPicPr>
        <p:blipFill>
          <a:blip r:embed="rId1"/>
          <a:stretch>
            <a:fillRect/>
          </a:stretch>
        </p:blipFill>
        <p:spPr>
          <a:xfrm>
            <a:off x="4468495" y="3429000"/>
            <a:ext cx="4400550" cy="250571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33375"/>
            <a:ext cx="8229600" cy="2868295"/>
          </a:xfrm>
        </p:spPr>
        <p:txBody>
          <a:bodyPr>
            <a:normAutofit fontScale="70000"/>
          </a:bodyPr>
          <a:p>
            <a:pPr marL="0" indent="0">
              <a:buNone/>
            </a:pPr>
            <a:r>
              <a:rPr lang="en-US" altLang="en-US">
                <a:sym typeface="+mn-ea"/>
              </a:rPr>
              <a:t>Step 4: Use the abline function to have a straight line (horizontal line) run through the bar plot at the mean value</a:t>
            </a:r>
            <a:endParaRPr lang="en-US" altLang="en-US"/>
          </a:p>
          <a:p>
            <a:pPr marL="0" indent="0">
              <a:buNone/>
            </a:pPr>
            <a:r>
              <a:rPr lang="en-US" altLang="en-US">
                <a:sym typeface="+mn-ea"/>
              </a:rPr>
              <a:t>&gt; barplot(numbers)</a:t>
            </a:r>
            <a:endParaRPr lang="en-US" altLang="en-US"/>
          </a:p>
          <a:p>
            <a:pPr marL="0" indent="0">
              <a:buNone/>
            </a:pPr>
            <a:r>
              <a:rPr lang="en-US" altLang="en-US">
                <a:sym typeface="+mn-ea"/>
              </a:rPr>
              <a:t>&gt; abline(h= mean(numbers))</a:t>
            </a:r>
            <a:endParaRPr lang="en-US" altLang="en-US"/>
          </a:p>
          <a:p>
            <a:pPr marL="0" indent="0">
              <a:buNone/>
            </a:pPr>
            <a:r>
              <a:rPr lang="en-US" altLang="en-US">
                <a:sym typeface="+mn-ea"/>
              </a:rPr>
              <a:t>Outcome: A straight line at the computed mean value (5.625) runs through the bar plot computed on the vector “numbers”.</a:t>
            </a:r>
            <a:endParaRPr lang="en-US" altLang="en-US"/>
          </a:p>
          <a:p>
            <a:endParaRPr lang="en-US"/>
          </a:p>
        </p:txBody>
      </p:sp>
      <p:pic>
        <p:nvPicPr>
          <p:cNvPr id="4" name="Picture 3"/>
          <p:cNvPicPr>
            <a:picLocks noChangeAspect="1"/>
          </p:cNvPicPr>
          <p:nvPr/>
        </p:nvPicPr>
        <p:blipFill>
          <a:blip r:embed="rId1"/>
          <a:stretch>
            <a:fillRect/>
          </a:stretch>
        </p:blipFill>
        <p:spPr>
          <a:xfrm>
            <a:off x="786765" y="3429000"/>
            <a:ext cx="7837805" cy="28492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median() Function</a:t>
            </a:r>
            <a:endParaRPr lang="en-US" altLang="en-US"/>
          </a:p>
        </p:txBody>
      </p:sp>
      <p:sp>
        <p:nvSpPr>
          <p:cNvPr id="3" name="Content Placeholder 2"/>
          <p:cNvSpPr>
            <a:spLocks noGrp="1"/>
          </p:cNvSpPr>
          <p:nvPr>
            <p:ph idx="1"/>
          </p:nvPr>
        </p:nvSpPr>
        <p:spPr>
          <a:xfrm>
            <a:off x="457200" y="1600200"/>
            <a:ext cx="8229600" cy="4795520"/>
          </a:xfrm>
        </p:spPr>
        <p:txBody>
          <a:bodyPr>
            <a:normAutofit fontScale="60000"/>
          </a:bodyPr>
          <a:p>
            <a:r>
              <a:rPr lang="en-US" altLang="en-US"/>
              <a:t>Objective: To determine the median of a set of numbers. Plot the numbers in a bar plot and have a straight line run through the plot at the median.</a:t>
            </a:r>
            <a:endParaRPr lang="en-US" altLang="en-US"/>
          </a:p>
          <a:p>
            <a:pPr marL="0" indent="0">
              <a:buNone/>
            </a:pPr>
            <a:r>
              <a:rPr lang="en-US" altLang="en-US"/>
              <a:t>Step 1: Create a vector “numbers”.</a:t>
            </a:r>
            <a:endParaRPr lang="en-US" altLang="en-US"/>
          </a:p>
          <a:p>
            <a:pPr marL="0" indent="0">
              <a:buNone/>
            </a:pPr>
            <a:r>
              <a:rPr lang="en-US" altLang="en-US"/>
              <a:t>&gt; numbers &lt;- c(1,3,5,2,8,7,9,10)</a:t>
            </a:r>
            <a:endParaRPr lang="en-US" altLang="en-US"/>
          </a:p>
          <a:p>
            <a:pPr marL="0" indent="0">
              <a:buNone/>
            </a:pPr>
            <a:r>
              <a:rPr lang="en-US" altLang="en-US"/>
              <a:t>Step 2: Compute the median value of the set of numbers contained in the vector “numbers”.</a:t>
            </a:r>
            <a:endParaRPr lang="en-US" altLang="en-US"/>
          </a:p>
          <a:p>
            <a:pPr marL="0" indent="0">
              <a:buNone/>
            </a:pPr>
            <a:r>
              <a:rPr lang="en-US" altLang="en-US"/>
              <a:t>&gt; median(numbers)</a:t>
            </a:r>
            <a:endParaRPr lang="en-US" altLang="en-US"/>
          </a:p>
          <a:p>
            <a:pPr marL="0" indent="0">
              <a:buNone/>
            </a:pPr>
            <a:r>
              <a:rPr lang="en-US" altLang="en-US"/>
              <a:t>[1] 6</a:t>
            </a:r>
            <a:endParaRPr lang="en-US" altLang="en-US"/>
          </a:p>
          <a:p>
            <a:pPr marL="0" indent="0">
              <a:buNone/>
            </a:pPr>
            <a:r>
              <a:rPr lang="en-US" altLang="en-US"/>
              <a:t>Step 3: Plot a bar plot using the vector “numbers”. Use the abline function to have a straight line (horizontal line) run through the bar plot at the median.</a:t>
            </a:r>
            <a:endParaRPr lang="en-US" altLang="en-US"/>
          </a:p>
          <a:p>
            <a:pPr marL="0" indent="0">
              <a:buNone/>
            </a:pPr>
            <a:r>
              <a:rPr lang="en-US" altLang="en-US"/>
              <a:t>&gt; barplot(numbers)</a:t>
            </a:r>
            <a:endParaRPr lang="en-US" altLang="en-US"/>
          </a:p>
          <a:p>
            <a:pPr marL="0" indent="0">
              <a:buNone/>
            </a:pPr>
            <a:r>
              <a:rPr lang="en-US" altLang="en-US"/>
              <a:t>&gt; abline(h = median(numbers))</a:t>
            </a:r>
            <a:endParaRPr lang="en-US" altLang="en-US"/>
          </a:p>
          <a:p>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4779010"/>
            <a:ext cx="8229600" cy="1347470"/>
          </a:xfrm>
        </p:spPr>
        <p:txBody>
          <a:bodyPr>
            <a:normAutofit fontScale="90000" lnSpcReduction="20000"/>
          </a:bodyPr>
          <a:p>
            <a:r>
              <a:rPr lang="en-US" altLang="en-US"/>
              <a:t>Outcome: A straight line at the computed median value (6.0) runs through the bar plot</a:t>
            </a:r>
            <a:endParaRPr lang="en-US" altLang="en-US"/>
          </a:p>
          <a:p>
            <a:r>
              <a:rPr lang="en-US" altLang="en-US"/>
              <a:t>computed on the vector “numbers”.</a:t>
            </a:r>
            <a:endParaRPr lang="en-US" altLang="en-US"/>
          </a:p>
        </p:txBody>
      </p:sp>
      <p:pic>
        <p:nvPicPr>
          <p:cNvPr id="4" name="Picture 3"/>
          <p:cNvPicPr>
            <a:picLocks noChangeAspect="1"/>
          </p:cNvPicPr>
          <p:nvPr/>
        </p:nvPicPr>
        <p:blipFill>
          <a:blip r:embed="rId1"/>
          <a:stretch>
            <a:fillRect/>
          </a:stretch>
        </p:blipFill>
        <p:spPr>
          <a:xfrm>
            <a:off x="820420" y="784860"/>
            <a:ext cx="7399020" cy="368681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sd() Function</a:t>
            </a:r>
            <a:endParaRPr lang="en-US" altLang="en-US"/>
          </a:p>
        </p:txBody>
      </p:sp>
      <p:sp>
        <p:nvSpPr>
          <p:cNvPr id="3" name="Content Placeholder 2"/>
          <p:cNvSpPr>
            <a:spLocks noGrp="1"/>
          </p:cNvSpPr>
          <p:nvPr>
            <p:ph idx="1"/>
          </p:nvPr>
        </p:nvSpPr>
        <p:spPr>
          <a:xfrm>
            <a:off x="457200" y="1417955"/>
            <a:ext cx="8229600" cy="4525963"/>
          </a:xfrm>
        </p:spPr>
        <p:txBody>
          <a:bodyPr>
            <a:noAutofit/>
          </a:bodyPr>
          <a:p>
            <a:r>
              <a:rPr lang="en-US" altLang="en-US" sz="1900"/>
              <a:t>Objective: To determine the standard deviation. Plot the numbers in a bar plot and have a straight line run through the plot at the mean and another straight line run through the plot at mean + standard deviation.</a:t>
            </a:r>
            <a:endParaRPr lang="en-US" altLang="en-US" sz="1900"/>
          </a:p>
          <a:p>
            <a:pPr marL="0" indent="0">
              <a:buNone/>
            </a:pPr>
            <a:r>
              <a:rPr lang="en-US" altLang="en-US" sz="1900"/>
              <a:t>Step 1: Create a vector “numbers”.</a:t>
            </a:r>
            <a:endParaRPr lang="en-US" altLang="en-US" sz="1900"/>
          </a:p>
          <a:p>
            <a:pPr marL="0" indent="0">
              <a:buNone/>
            </a:pPr>
            <a:r>
              <a:rPr lang="en-US" altLang="en-US" sz="1900"/>
              <a:t>&gt; numbers &lt;-c(1,3,5,2,8,7,9,10)</a:t>
            </a:r>
            <a:endParaRPr lang="en-US" altLang="en-US" sz="1900"/>
          </a:p>
          <a:p>
            <a:pPr marL="0" indent="0">
              <a:buNone/>
            </a:pPr>
            <a:r>
              <a:rPr lang="en-US" altLang="en-US" sz="1900"/>
              <a:t>Step 2: Compute the mean value of the set of numbers contained in the vector “numbers”.</a:t>
            </a:r>
            <a:endParaRPr lang="en-US" altLang="en-US" sz="1900"/>
          </a:p>
          <a:p>
            <a:pPr marL="0" indent="0">
              <a:buNone/>
            </a:pPr>
            <a:r>
              <a:rPr lang="en-US" altLang="en-US" sz="1900"/>
              <a:t>&gt; mean(numbers)</a:t>
            </a:r>
            <a:endParaRPr lang="en-US" altLang="en-US" sz="1900"/>
          </a:p>
          <a:p>
            <a:pPr marL="0" indent="0">
              <a:buNone/>
            </a:pPr>
            <a:r>
              <a:rPr lang="en-US" altLang="en-US" sz="1900"/>
              <a:t>[1] 5.625</a:t>
            </a:r>
            <a:endParaRPr lang="en-US" altLang="en-US" sz="1900"/>
          </a:p>
          <a:p>
            <a:pPr marL="0" indent="0">
              <a:buNone/>
            </a:pPr>
            <a:r>
              <a:rPr lang="en-US" altLang="en-US" sz="1900"/>
              <a:t>Step 3: Determine the standard deviation of the set of numbers held in the vector“numbers”.</a:t>
            </a:r>
            <a:endParaRPr lang="en-US" altLang="en-US" sz="1900"/>
          </a:p>
          <a:p>
            <a:pPr marL="0" indent="0">
              <a:buNone/>
            </a:pPr>
            <a:r>
              <a:rPr lang="en-US" altLang="en-US" sz="1900"/>
              <a:t>&gt; deviation &lt;- sd(numbers)</a:t>
            </a:r>
            <a:endParaRPr lang="en-US" altLang="en-US" sz="1900"/>
          </a:p>
          <a:p>
            <a:pPr marL="0" indent="0">
              <a:buNone/>
            </a:pPr>
            <a:r>
              <a:rPr lang="en-US" altLang="en-US" sz="1900"/>
              <a:t>&gt; deviation</a:t>
            </a:r>
            <a:endParaRPr lang="en-US" altLang="en-US" sz="1900"/>
          </a:p>
          <a:p>
            <a:pPr marL="0" indent="0">
              <a:buNone/>
            </a:pPr>
            <a:r>
              <a:rPr lang="en-US" altLang="en-US" sz="1900"/>
              <a:t>[1] 3.377975</a:t>
            </a:r>
            <a:endParaRPr lang="en-US" altLang="en-US" sz="1900"/>
          </a:p>
          <a:p>
            <a:pPr marL="0" indent="0">
              <a:buNone/>
            </a:pPr>
            <a:r>
              <a:rPr lang="en-US" altLang="en-US" sz="1900"/>
              <a:t>Step 4: Plot a bar plot using the vector “numbers”.</a:t>
            </a:r>
            <a:endParaRPr lang="en-US" altLang="en-US" sz="1900"/>
          </a:p>
          <a:p>
            <a:pPr marL="0" indent="0">
              <a:buNone/>
            </a:pPr>
            <a:r>
              <a:rPr lang="en-US" altLang="en-US" sz="1900"/>
              <a:t>&gt; barplot(numbers)</a:t>
            </a:r>
            <a:endParaRPr lang="en-US" altLang="en-US" sz="19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19405" y="264160"/>
            <a:ext cx="8229600" cy="3164205"/>
          </a:xfrm>
        </p:spPr>
        <p:txBody>
          <a:bodyPr>
            <a:normAutofit fontScale="70000"/>
          </a:bodyPr>
          <a:p>
            <a:r>
              <a:rPr lang="en-US" altLang="en-US"/>
              <a:t>Step 5: Use the abline function to have a straight line (horizontal line) run through the</a:t>
            </a:r>
            <a:endParaRPr lang="en-US" altLang="en-US"/>
          </a:p>
          <a:p>
            <a:r>
              <a:rPr lang="en-US" altLang="en-US"/>
              <a:t>bar plot at the mean value (5.625) and another straight line run through the bar plot at</a:t>
            </a:r>
            <a:endParaRPr lang="en-US" altLang="en-US"/>
          </a:p>
          <a:p>
            <a:r>
              <a:rPr lang="en-US" altLang="en-US"/>
              <a:t>mean value + standard deviation (5.625 + 3.377975)</a:t>
            </a:r>
            <a:endParaRPr lang="en-US" altLang="en-US"/>
          </a:p>
          <a:p>
            <a:r>
              <a:rPr lang="en-US" altLang="en-US"/>
              <a:t>&gt; barplot(numbers)</a:t>
            </a:r>
            <a:endParaRPr lang="en-US" altLang="en-US"/>
          </a:p>
          <a:p>
            <a:r>
              <a:rPr lang="en-US" altLang="en-US"/>
              <a:t>&gt; abline(h=sd(numbers))</a:t>
            </a:r>
            <a:endParaRPr lang="en-US" altLang="en-US"/>
          </a:p>
          <a:p>
            <a:r>
              <a:rPr lang="en-US" altLang="en-US"/>
              <a:t>&gt; abline(h=sd(numbers) + mean(numbers))</a:t>
            </a:r>
            <a:endParaRPr lang="en-US" altLang="en-US"/>
          </a:p>
        </p:txBody>
      </p:sp>
      <p:pic>
        <p:nvPicPr>
          <p:cNvPr id="4" name="Picture 3"/>
          <p:cNvPicPr>
            <a:picLocks noChangeAspect="1"/>
          </p:cNvPicPr>
          <p:nvPr/>
        </p:nvPicPr>
        <p:blipFill>
          <a:blip r:embed="rId1"/>
          <a:stretch>
            <a:fillRect/>
          </a:stretch>
        </p:blipFill>
        <p:spPr>
          <a:xfrm>
            <a:off x="1365885" y="3676650"/>
            <a:ext cx="6353175" cy="30937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Mode Function in R</a:t>
            </a:r>
            <a:endParaRPr lang="en-US" altLang="en-US"/>
          </a:p>
        </p:txBody>
      </p:sp>
      <p:sp>
        <p:nvSpPr>
          <p:cNvPr id="3" name="Content Placeholder 2"/>
          <p:cNvSpPr>
            <a:spLocks noGrp="1"/>
          </p:cNvSpPr>
          <p:nvPr>
            <p:ph idx="1"/>
          </p:nvPr>
        </p:nvSpPr>
        <p:spPr/>
        <p:txBody>
          <a:bodyPr>
            <a:normAutofit fontScale="90000" lnSpcReduction="20000"/>
          </a:bodyPr>
          <a:p>
            <a:r>
              <a:rPr lang="en-US" altLang="en-US"/>
              <a:t>Objective: Find the mode (most frequently occurring value) of a dataset.</a:t>
            </a:r>
            <a:endParaRPr lang="en-US" altLang="en-US"/>
          </a:p>
          <a:p>
            <a:r>
              <a:rPr lang="en-US" altLang="en-US"/>
              <a:t>Note: R does not have a built-in function for mode, so we write a user-defined function.</a:t>
            </a:r>
            <a:endParaRPr lang="en-US" altLang="en-US"/>
          </a:p>
          <a:p>
            <a:r>
              <a:rPr lang="en-US" altLang="en-US"/>
              <a:t>User-Defined Mode Function:</a:t>
            </a:r>
            <a:endParaRPr lang="en-US" altLang="en-US"/>
          </a:p>
          <a:p>
            <a:pPr marL="0" indent="0">
              <a:buNone/>
            </a:pPr>
            <a:r>
              <a:rPr lang="en-US" altLang="en-US"/>
              <a:t>Mode &lt;- function(v) {</a:t>
            </a:r>
            <a:endParaRPr lang="en-US" altLang="en-US"/>
          </a:p>
          <a:p>
            <a:pPr marL="0" indent="0">
              <a:buNone/>
            </a:pPr>
            <a:r>
              <a:rPr lang="en-US" altLang="en-US"/>
              <a:t>  UniqValue &lt;- unique(v)</a:t>
            </a:r>
            <a:endParaRPr lang="en-US" altLang="en-US"/>
          </a:p>
          <a:p>
            <a:pPr marL="0" indent="0">
              <a:buNone/>
            </a:pPr>
            <a:r>
              <a:rPr lang="en-US" altLang="en-US"/>
              <a:t>  UniqValue[which.max(tabulate(match(v, UniqValue)))]</a:t>
            </a:r>
            <a:endParaRPr lang="en-US" altLang="en-US"/>
          </a:p>
          <a:p>
            <a:pPr marL="0" indent="0">
              <a:buNone/>
            </a:pPr>
            <a:r>
              <a:rPr lang="en-US" altLang="en-US"/>
              <a:t>}</a:t>
            </a:r>
            <a:endParaRPr lang="en-US" altLang="en-US"/>
          </a:p>
          <a:p>
            <a:pPr marL="0" indent="0">
              <a:buNone/>
            </a:pPr>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74650"/>
            <a:ext cx="8229600" cy="6270625"/>
          </a:xfrm>
        </p:spPr>
        <p:txBody>
          <a:bodyPr>
            <a:normAutofit fontScale="70000"/>
          </a:bodyPr>
          <a:p>
            <a:pPr marL="0" indent="0">
              <a:buNone/>
            </a:pPr>
            <a:r>
              <a:rPr lang="en-US" altLang="en-US"/>
              <a:t>Functions Used Inside Mode():</a:t>
            </a:r>
            <a:endParaRPr lang="en-US" altLang="en-US"/>
          </a:p>
          <a:p>
            <a:r>
              <a:rPr lang="en-US" altLang="en-US"/>
              <a:t>unique(v) → returns distinct values from vector v.</a:t>
            </a:r>
            <a:endParaRPr lang="en-US" altLang="en-US"/>
          </a:p>
          <a:p>
            <a:r>
              <a:rPr lang="en-US" altLang="en-US"/>
              <a:t>match(v, UniqValue) → finds positions of elements in v within UniqValue.</a:t>
            </a:r>
            <a:endParaRPr lang="en-US" altLang="en-US"/>
          </a:p>
          <a:p>
            <a:r>
              <a:rPr lang="en-US" altLang="en-US"/>
              <a:t>tabulate() → counts frequency of each value.</a:t>
            </a:r>
            <a:endParaRPr lang="en-US" altLang="en-US"/>
          </a:p>
          <a:p>
            <a:r>
              <a:rPr lang="en-US" altLang="en-US"/>
              <a:t>which.max() → identifies the most frequent value.</a:t>
            </a:r>
            <a:endParaRPr lang="en-US" altLang="en-US"/>
          </a:p>
          <a:p>
            <a:pPr marL="0" indent="0">
              <a:buNone/>
            </a:pPr>
            <a:r>
              <a:rPr lang="en-US" altLang="en-US"/>
              <a:t>Example:</a:t>
            </a:r>
            <a:endParaRPr lang="en-US" altLang="en-US"/>
          </a:p>
          <a:p>
            <a:pPr marL="0" indent="0">
              <a:buNone/>
            </a:pPr>
            <a:r>
              <a:rPr lang="en-US" altLang="en-US"/>
              <a:t>v &lt;- c(2, 1, 2, 3, 1, 2, 3, 4, 1, 5, 5, 3, 2, 3)</a:t>
            </a:r>
            <a:endParaRPr lang="en-US" altLang="en-US"/>
          </a:p>
          <a:p>
            <a:pPr marL="0" indent="0">
              <a:buNone/>
            </a:pPr>
            <a:r>
              <a:rPr lang="en-US" altLang="en-US"/>
              <a:t>unique(v) </a:t>
            </a:r>
            <a:endParaRPr lang="en-US" altLang="en-US"/>
          </a:p>
          <a:p>
            <a:pPr marL="0" indent="0">
              <a:buNone/>
            </a:pPr>
            <a:r>
              <a:rPr lang="en-US" altLang="en-US"/>
              <a:t># Output: 2 1 3 4 5</a:t>
            </a:r>
            <a:endParaRPr lang="en-US" altLang="en-US"/>
          </a:p>
          <a:p>
            <a:pPr marL="0" indent="0">
              <a:buNone/>
            </a:pPr>
            <a:r>
              <a:rPr lang="en-US" altLang="en-US"/>
              <a:t>Mode(v)</a:t>
            </a:r>
            <a:endParaRPr lang="en-US" altLang="en-US"/>
          </a:p>
          <a:p>
            <a:pPr marL="0" indent="0">
              <a:buNone/>
            </a:pPr>
            <a:r>
              <a:rPr lang="en-US" altLang="en-US"/>
              <a:t># Output: 2 (most frequent value)</a:t>
            </a:r>
            <a:endParaRPr lang="en-US" altLang="en-US"/>
          </a:p>
          <a:p>
            <a:pPr marL="0" indent="0">
              <a:buNone/>
            </a:pPr>
            <a:r>
              <a:rPr lang="en-US" altLang="en-US"/>
              <a:t>Outcome: The function correctly computes the mode of the dataset.</a:t>
            </a:r>
            <a:endParaRPr lang="en-US" altLang="en-US"/>
          </a:p>
          <a:p>
            <a:pPr marL="0" indent="0">
              <a:buNone/>
            </a:pPr>
            <a:r>
              <a:rPr lang="en-US" altLang="en-US"/>
              <a:t> Understanding how to combine small functions (unique(), tabulate(), match()) is a good step toward writing custom functions in R.</a:t>
            </a:r>
            <a:endParaRPr lang="en-US" altLang="en-US"/>
          </a:p>
          <a:p>
            <a:pPr marL="0" indent="0">
              <a:buNone/>
            </a:pP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match function</a:t>
            </a:r>
            <a:endParaRPr lang="en-US" altLang="en-US"/>
          </a:p>
        </p:txBody>
      </p:sp>
      <p:sp>
        <p:nvSpPr>
          <p:cNvPr id="3" name="Content Placeholder 2"/>
          <p:cNvSpPr>
            <a:spLocks noGrp="1"/>
          </p:cNvSpPr>
          <p:nvPr>
            <p:ph idx="1"/>
          </p:nvPr>
        </p:nvSpPr>
        <p:spPr/>
        <p:txBody>
          <a:bodyPr>
            <a:normAutofit fontScale="90000" lnSpcReduction="20000"/>
          </a:bodyPr>
          <a:p>
            <a:r>
              <a:rPr lang="en-US" altLang="en-US"/>
              <a:t>Takes a vector as the input and return the vector that has the positions of (first) matches of its first arguments in its second.</a:t>
            </a:r>
            <a:endParaRPr lang="en-US" altLang="en-US"/>
          </a:p>
          <a:p>
            <a:pPr marL="0" indent="0">
              <a:buNone/>
            </a:pPr>
            <a:r>
              <a:rPr lang="en-US" altLang="en-US"/>
              <a:t>&gt; v</a:t>
            </a:r>
            <a:endParaRPr lang="en-US" altLang="en-US"/>
          </a:p>
          <a:p>
            <a:pPr marL="0" indent="0">
              <a:buNone/>
            </a:pPr>
            <a:r>
              <a:rPr lang="en-US" altLang="en-US"/>
              <a:t>[1] 2 1 2 3 1 2 3 4 1 5 5 3 2 3</a:t>
            </a:r>
            <a:endParaRPr lang="en-US" altLang="en-US"/>
          </a:p>
          <a:p>
            <a:pPr marL="0" indent="0">
              <a:buNone/>
            </a:pPr>
            <a:r>
              <a:rPr lang="en-US" altLang="en-US"/>
              <a:t>&gt; UniqValue &lt;-unique(v)</a:t>
            </a:r>
            <a:endParaRPr lang="en-US" altLang="en-US"/>
          </a:p>
          <a:p>
            <a:pPr marL="0" indent="0">
              <a:buNone/>
            </a:pPr>
            <a:r>
              <a:rPr lang="en-US" altLang="en-US"/>
              <a:t>&gt; UniqValue</a:t>
            </a:r>
            <a:endParaRPr lang="en-US" altLang="en-US"/>
          </a:p>
          <a:p>
            <a:pPr marL="0" indent="0">
              <a:buNone/>
            </a:pPr>
            <a:r>
              <a:rPr lang="en-US" altLang="en-US"/>
              <a:t>[1] 2 1 3 4 5</a:t>
            </a:r>
            <a:endParaRPr lang="en-US" altLang="en-US"/>
          </a:p>
          <a:p>
            <a:pPr marL="0" indent="0">
              <a:buNone/>
            </a:pPr>
            <a:r>
              <a:rPr lang="en-US" altLang="en-US"/>
              <a:t>&gt; match(v,UniqValue)</a:t>
            </a:r>
            <a:endParaRPr lang="en-US" altLang="en-US"/>
          </a:p>
          <a:p>
            <a:pPr marL="0" indent="0">
              <a:buNone/>
            </a:pPr>
            <a:r>
              <a:rPr lang="en-US" altLang="en-US"/>
              <a:t>[1] 1 2 1 3 2 1 3 4 2 5 5 3 1 3</a:t>
            </a: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313372"/>
            <a:ext cx="8229600" cy="1143000"/>
          </a:xfrm>
        </p:spPr>
        <p:txBody>
          <a:bodyPr/>
          <a:p>
            <a:r>
              <a:rPr lang="en-US" altLang="en-US"/>
              <a:t>tabulate function</a:t>
            </a:r>
            <a:endParaRPr lang="en-US" altLang="en-US"/>
          </a:p>
        </p:txBody>
      </p:sp>
      <p:sp>
        <p:nvSpPr>
          <p:cNvPr id="3" name="Content Placeholder 2"/>
          <p:cNvSpPr>
            <a:spLocks noGrp="1"/>
          </p:cNvSpPr>
          <p:nvPr>
            <p:ph idx="1"/>
          </p:nvPr>
        </p:nvSpPr>
        <p:spPr>
          <a:xfrm>
            <a:off x="457200" y="622300"/>
            <a:ext cx="8229600" cy="5296535"/>
          </a:xfrm>
        </p:spPr>
        <p:txBody>
          <a:bodyPr>
            <a:noAutofit/>
          </a:bodyPr>
          <a:p>
            <a:r>
              <a:rPr lang="en-US" altLang="en-US" sz="1600"/>
              <a:t>Takes an integer valued vector as the input and counts the number of times each integer occurs in it.</a:t>
            </a:r>
            <a:endParaRPr lang="en-US" altLang="en-US" sz="1600"/>
          </a:p>
          <a:p>
            <a:pPr marL="0" indent="0">
              <a:buNone/>
            </a:pPr>
            <a:r>
              <a:rPr lang="en-US" altLang="en-US" sz="1600"/>
              <a:t>&gt; tabulate(match(v,UniqValue))</a:t>
            </a:r>
            <a:endParaRPr lang="en-US" altLang="en-US" sz="1600"/>
          </a:p>
          <a:p>
            <a:pPr marL="0" indent="0">
              <a:buNone/>
            </a:pPr>
            <a:r>
              <a:rPr lang="en-US" altLang="en-US" sz="1600"/>
              <a:t>1] 4 3 4 1 2</a:t>
            </a:r>
            <a:endParaRPr lang="en-US" altLang="en-US" sz="1600"/>
          </a:p>
          <a:p>
            <a:pPr marL="0" indent="0">
              <a:buNone/>
            </a:pPr>
            <a:r>
              <a:rPr lang="en-US" altLang="en-US" sz="1600"/>
              <a:t>Going by our example, “2” occurs 4 times, “1” occurs 3 times, “3” occurs 4 times, “4”</a:t>
            </a:r>
            <a:endParaRPr lang="en-US" altLang="en-US" sz="1600"/>
          </a:p>
          <a:p>
            <a:pPr marL="0" indent="0">
              <a:buNone/>
            </a:pPr>
            <a:r>
              <a:rPr lang="en-US" altLang="en-US" sz="1600"/>
              <a:t>occurs 1 time and “5” occurs 2 times.</a:t>
            </a:r>
            <a:endParaRPr lang="en-US" altLang="en-US" sz="1600"/>
          </a:p>
          <a:p>
            <a:pPr marL="0" indent="0">
              <a:buNone/>
            </a:pPr>
            <a:r>
              <a:rPr lang="en-US" altLang="en-US" sz="1600"/>
              <a:t>Step 2: Create a vector “v”.</a:t>
            </a:r>
            <a:endParaRPr lang="en-US" altLang="en-US" sz="1600"/>
          </a:p>
          <a:p>
            <a:pPr marL="0" indent="0">
              <a:buNone/>
            </a:pPr>
            <a:r>
              <a:rPr lang="en-US" altLang="en-US" sz="1600"/>
              <a:t>&gt; v &lt;- c(2,1,2,3,1,2,3,4,1,5,5,3,2,3)</a:t>
            </a:r>
            <a:endParaRPr lang="en-US" altLang="en-US" sz="1600"/>
          </a:p>
          <a:p>
            <a:pPr marL="0" indent="0">
              <a:buNone/>
            </a:pPr>
            <a:r>
              <a:rPr lang="en-US" altLang="en-US" sz="1600"/>
              <a:t>Step 3: Call the function “Mode” and pass the vector “v” to it.</a:t>
            </a:r>
            <a:endParaRPr lang="en-US" altLang="en-US" sz="1600"/>
          </a:p>
          <a:p>
            <a:pPr marL="0" indent="0">
              <a:buNone/>
            </a:pPr>
            <a:r>
              <a:rPr lang="en-US" altLang="en-US" sz="1600"/>
              <a:t>&gt; Output &lt;- Mode(v)</a:t>
            </a:r>
            <a:endParaRPr lang="en-US" altLang="en-US" sz="1600"/>
          </a:p>
          <a:p>
            <a:pPr marL="0" indent="0">
              <a:buNone/>
            </a:pPr>
            <a:r>
              <a:rPr lang="en-US" altLang="en-US" sz="1600"/>
              <a:t>Step 4: Print the mode value of the vector “v”.</a:t>
            </a:r>
            <a:endParaRPr lang="en-US" altLang="en-US" sz="1600"/>
          </a:p>
          <a:p>
            <a:pPr marL="0" indent="0">
              <a:buNone/>
            </a:pPr>
            <a:r>
              <a:rPr lang="en-US" altLang="en-US" sz="1600"/>
              <a:t>&gt; print (Output)</a:t>
            </a:r>
            <a:endParaRPr lang="en-US" altLang="en-US" sz="1600"/>
          </a:p>
          <a:p>
            <a:pPr marL="0" indent="0">
              <a:buNone/>
            </a:pPr>
            <a:r>
              <a:rPr lang="en-US" altLang="en-US" sz="1600"/>
              <a:t>[1] 2</a:t>
            </a:r>
            <a:endParaRPr lang="en-US" altLang="en-US" sz="1600"/>
          </a:p>
          <a:p>
            <a:pPr marL="0" indent="0">
              <a:buNone/>
            </a:pPr>
            <a:r>
              <a:rPr lang="en-US" altLang="en-US" sz="1600"/>
              <a:t>Let us pass a character vector “charv” to the “Mode” function.</a:t>
            </a:r>
            <a:endParaRPr lang="en-US" altLang="en-US" sz="1600"/>
          </a:p>
          <a:p>
            <a:pPr marL="0" indent="0">
              <a:buNone/>
            </a:pPr>
            <a:r>
              <a:rPr lang="en-US" altLang="en-US" sz="1600"/>
              <a:t>Step 1: Create a character vector “charv”.</a:t>
            </a:r>
            <a:endParaRPr lang="en-US" altLang="en-US" sz="1600"/>
          </a:p>
          <a:p>
            <a:pPr marL="0" indent="0">
              <a:buNone/>
            </a:pPr>
            <a:r>
              <a:rPr lang="en-US" altLang="en-US" sz="1600"/>
              <a:t>&gt; charv &lt;- c(“o”, “it”, “the”, “it”, “it”)</a:t>
            </a:r>
            <a:endParaRPr lang="en-US" altLang="en-US" sz="1600"/>
          </a:p>
          <a:p>
            <a:pPr marL="0" indent="0">
              <a:buNone/>
            </a:pPr>
            <a:r>
              <a:rPr lang="en-US" altLang="en-US" sz="1600"/>
              <a:t>Step 2: Call the function “Mode” and pass the character vector “charv” to it.</a:t>
            </a:r>
            <a:endParaRPr lang="en-US" altLang="en-US" sz="1600"/>
          </a:p>
          <a:p>
            <a:pPr marL="0" indent="0">
              <a:buNone/>
            </a:pPr>
            <a:r>
              <a:rPr lang="en-US" altLang="en-US" sz="1600"/>
              <a:t>&gt; Output &lt;- Mode(charv)</a:t>
            </a:r>
            <a:endParaRPr lang="en-US" altLang="en-US" sz="1600"/>
          </a:p>
          <a:p>
            <a:pPr marL="0" indent="0">
              <a:buNone/>
            </a:pPr>
            <a:r>
              <a:rPr lang="en-US" altLang="en-US" sz="1600"/>
              <a:t>Step 3: Print out the mode value of the vector “v”.</a:t>
            </a:r>
            <a:endParaRPr lang="en-US" altLang="en-US" sz="1600"/>
          </a:p>
          <a:p>
            <a:pPr marL="0" indent="0">
              <a:buNone/>
            </a:pPr>
            <a:r>
              <a:rPr lang="en-US" altLang="en-US" sz="1600"/>
              <a:t>&gt; print(Output)</a:t>
            </a:r>
            <a:endParaRPr lang="en-US" altLang="en-US" sz="1600"/>
          </a:p>
          <a:p>
            <a:pPr marL="0" indent="0">
              <a:buNone/>
            </a:pPr>
            <a:r>
              <a:rPr lang="en-US" altLang="en-US" sz="1600"/>
              <a:t>[1] “it”</a:t>
            </a:r>
            <a:endParaRPr lang="en-US" altLang="en-US" sz="1600"/>
          </a:p>
          <a:p>
            <a:pPr marL="0" indent="0">
              <a:buNone/>
            </a:pPr>
            <a:endParaRPr lang="en-US" altLang="en-US" sz="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2543"/>
            <a:ext cx="8229600" cy="1143000"/>
          </a:xfrm>
        </p:spPr>
        <p:txBody>
          <a:bodyPr/>
          <a:p>
            <a:r>
              <a:rPr lang="en-US" altLang="en-US"/>
              <a:t>log() Function</a:t>
            </a:r>
            <a:endParaRPr lang="en-US" altLang="en-US"/>
          </a:p>
        </p:txBody>
      </p:sp>
      <p:sp>
        <p:nvSpPr>
          <p:cNvPr id="3" name="Content Placeholder 2"/>
          <p:cNvSpPr>
            <a:spLocks noGrp="1"/>
          </p:cNvSpPr>
          <p:nvPr>
            <p:ph idx="1"/>
          </p:nvPr>
        </p:nvSpPr>
        <p:spPr>
          <a:xfrm>
            <a:off x="457200" y="958215"/>
            <a:ext cx="8229600" cy="4525963"/>
          </a:xfrm>
        </p:spPr>
        <p:txBody>
          <a:bodyPr>
            <a:noAutofit/>
          </a:bodyPr>
          <a:p>
            <a:pPr marL="0" indent="0">
              <a:buNone/>
            </a:pPr>
            <a:r>
              <a:rPr lang="en-US" altLang="en-US" sz="2300"/>
              <a:t>The following are the variants of the log() function:</a:t>
            </a:r>
            <a:endParaRPr lang="en-US" altLang="en-US" sz="2300"/>
          </a:p>
          <a:p>
            <a:r>
              <a:rPr lang="en-US" altLang="en-US" sz="2300"/>
              <a:t>d log() computes the natural logarithms (Ln) for a number or vector</a:t>
            </a:r>
            <a:endParaRPr lang="en-US" altLang="en-US" sz="2300"/>
          </a:p>
          <a:p>
            <a:r>
              <a:rPr lang="en-US" altLang="en-US" sz="2300"/>
              <a:t>d log10() computes common logarithms (Lg)</a:t>
            </a:r>
            <a:endParaRPr lang="en-US" altLang="en-US" sz="2300"/>
          </a:p>
          <a:p>
            <a:r>
              <a:rPr lang="en-US" altLang="en-US" sz="2300"/>
              <a:t>d log2() computes binary logarithms (Log2)</a:t>
            </a:r>
            <a:endParaRPr lang="en-US" altLang="en-US" sz="2300"/>
          </a:p>
          <a:p>
            <a:r>
              <a:rPr lang="en-US" altLang="en-US" sz="2300"/>
              <a:t>d log(x,b) computes logarithms with base b.</a:t>
            </a:r>
            <a:endParaRPr lang="en-US" altLang="en-US" sz="2300"/>
          </a:p>
          <a:p>
            <a:pPr marL="0" indent="0">
              <a:buNone/>
            </a:pPr>
            <a:r>
              <a:rPr lang="en-US" altLang="en-US" sz="2300"/>
              <a:t>&gt; log (5)</a:t>
            </a:r>
            <a:endParaRPr lang="en-US" altLang="en-US" sz="2300"/>
          </a:p>
          <a:p>
            <a:pPr marL="0" indent="0">
              <a:buNone/>
            </a:pPr>
            <a:r>
              <a:rPr lang="en-US" altLang="en-US" sz="2300"/>
              <a:t>[1] 1.609438</a:t>
            </a:r>
            <a:endParaRPr lang="en-US" altLang="en-US" sz="2300"/>
          </a:p>
          <a:p>
            <a:pPr marL="0" indent="0">
              <a:buNone/>
            </a:pPr>
            <a:r>
              <a:rPr lang="en-US" altLang="en-US" sz="2300"/>
              <a:t>&gt; log10(5)</a:t>
            </a:r>
            <a:endParaRPr lang="en-US" altLang="en-US" sz="2300"/>
          </a:p>
          <a:p>
            <a:pPr marL="0" indent="0">
              <a:buNone/>
            </a:pPr>
            <a:r>
              <a:rPr lang="en-US" altLang="en-US" sz="2300"/>
              <a:t>[1] 0.69897</a:t>
            </a:r>
            <a:endParaRPr lang="en-US" altLang="en-US" sz="2300"/>
          </a:p>
          <a:p>
            <a:pPr marL="0" indent="0">
              <a:buNone/>
            </a:pPr>
            <a:r>
              <a:rPr lang="en-US" altLang="en-US" sz="2300"/>
              <a:t>&gt; log2(5)</a:t>
            </a:r>
            <a:endParaRPr lang="en-US" altLang="en-US" sz="2300"/>
          </a:p>
          <a:p>
            <a:pPr marL="0" indent="0">
              <a:buNone/>
            </a:pPr>
            <a:r>
              <a:rPr lang="en-US" altLang="en-US" sz="2300"/>
              <a:t>[1]2.321928</a:t>
            </a:r>
            <a:endParaRPr lang="en-US" altLang="en-US" sz="2300"/>
          </a:p>
          <a:p>
            <a:pPr marL="0" indent="0">
              <a:buNone/>
            </a:pPr>
            <a:r>
              <a:rPr lang="en-US" altLang="en-US" sz="2300"/>
              <a:t>&gt;log(9,base=3)</a:t>
            </a:r>
            <a:endParaRPr lang="en-US" altLang="en-US" sz="2300"/>
          </a:p>
          <a:p>
            <a:pPr marL="0" indent="0">
              <a:buNone/>
            </a:pPr>
            <a:r>
              <a:rPr lang="en-US" altLang="en-US" sz="2300"/>
              <a:t>[1] 2</a:t>
            </a:r>
            <a:endParaRPr lang="en-US" altLang="en-US" sz="23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diff() Function</a:t>
            </a:r>
            <a:endParaRPr lang="en-US" altLang="en-US"/>
          </a:p>
        </p:txBody>
      </p:sp>
      <p:pic>
        <p:nvPicPr>
          <p:cNvPr id="4" name="Content Placeholder 3"/>
          <p:cNvPicPr>
            <a:picLocks noChangeAspect="1"/>
          </p:cNvPicPr>
          <p:nvPr>
            <p:ph idx="1"/>
          </p:nvPr>
        </p:nvPicPr>
        <p:blipFill>
          <a:blip r:embed="rId1"/>
          <a:stretch>
            <a:fillRect/>
          </a:stretch>
        </p:blipFill>
        <p:spPr>
          <a:xfrm>
            <a:off x="26670" y="1414780"/>
            <a:ext cx="8996680" cy="50774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dnorm() and pnorm() Function</a:t>
            </a:r>
            <a:endParaRPr lang="en-US" altLang="en-US"/>
          </a:p>
        </p:txBody>
      </p:sp>
      <p:pic>
        <p:nvPicPr>
          <p:cNvPr id="4" name="Content Placeholder 3"/>
          <p:cNvPicPr>
            <a:picLocks noChangeAspect="1"/>
          </p:cNvPicPr>
          <p:nvPr>
            <p:ph idx="1"/>
          </p:nvPr>
        </p:nvPicPr>
        <p:blipFill>
          <a:blip r:embed="rId1"/>
          <a:stretch>
            <a:fillRect/>
          </a:stretch>
        </p:blipFill>
        <p:spPr>
          <a:xfrm>
            <a:off x="457200" y="2135505"/>
            <a:ext cx="8015605" cy="34747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Similarity Search in Time Series Data</a:t>
            </a:r>
            <a:endParaRPr lang="en-US" altLang="en-US"/>
          </a:p>
        </p:txBody>
      </p:sp>
      <p:sp>
        <p:nvSpPr>
          <p:cNvPr id="3" name="Content Placeholder 2"/>
          <p:cNvSpPr>
            <a:spLocks noGrp="1"/>
          </p:cNvSpPr>
          <p:nvPr>
            <p:ph idx="1"/>
          </p:nvPr>
        </p:nvSpPr>
        <p:spPr>
          <a:xfrm>
            <a:off x="457200" y="1417955"/>
            <a:ext cx="8229600" cy="4525963"/>
          </a:xfrm>
        </p:spPr>
        <p:txBody>
          <a:bodyPr>
            <a:normAutofit fontScale="25000"/>
          </a:bodyPr>
          <a:p>
            <a:r>
              <a:rPr lang="en-US" altLang="en-US" sz="8000"/>
              <a:t>Time series data often contains repeating patterns or shapes.</a:t>
            </a:r>
            <a:endParaRPr lang="en-US" altLang="en-US" sz="8000"/>
          </a:p>
          <a:p>
            <a:r>
              <a:rPr lang="en-US" altLang="en-US" sz="8000"/>
              <a:t>Similarity search helps us compare two time series to find how closely they match.</a:t>
            </a:r>
            <a:endParaRPr lang="en-US" altLang="en-US" sz="8000"/>
          </a:p>
          <a:p>
            <a:pPr marL="0" indent="0">
              <a:buNone/>
            </a:pPr>
            <a:r>
              <a:rPr lang="en-US" altLang="en-US" sz="8000"/>
              <a:t>Applications:</a:t>
            </a:r>
            <a:endParaRPr lang="en-US" altLang="en-US" sz="8000"/>
          </a:p>
          <a:p>
            <a:r>
              <a:rPr lang="en-US" altLang="en-US" sz="8000"/>
              <a:t>Stock price movement comparison</a:t>
            </a:r>
            <a:endParaRPr lang="en-US" altLang="en-US" sz="8000"/>
          </a:p>
          <a:p>
            <a:r>
              <a:rPr lang="en-US" altLang="en-US" sz="8000"/>
              <a:t>Weather pattern similarity across years</a:t>
            </a:r>
            <a:endParaRPr lang="en-US" altLang="en-US" sz="8000"/>
          </a:p>
          <a:p>
            <a:r>
              <a:rPr lang="en-US" altLang="en-US" sz="8000"/>
              <a:t>User activity trends on websites</a:t>
            </a:r>
            <a:endParaRPr lang="en-US" altLang="en-US" sz="8000"/>
          </a:p>
          <a:p>
            <a:r>
              <a:rPr lang="en-US" altLang="en-US" sz="8000"/>
              <a:t>Medical data (ECG, EEG pattern matching)</a:t>
            </a:r>
            <a:endParaRPr lang="en-US" altLang="en-US" sz="8000"/>
          </a:p>
          <a:p>
            <a:pPr marL="0" indent="0">
              <a:buNone/>
            </a:pPr>
            <a:r>
              <a:rPr lang="en-US" altLang="en-US" sz="8000"/>
              <a:t>Types of Similarity:</a:t>
            </a:r>
            <a:endParaRPr lang="en-US" altLang="en-US" sz="8000"/>
          </a:p>
          <a:p>
            <a:pPr marL="0" indent="0">
              <a:buNone/>
            </a:pPr>
            <a:r>
              <a:rPr lang="en-US" altLang="en-US" sz="8000"/>
              <a:t>1. Whole series similarity</a:t>
            </a:r>
            <a:endParaRPr lang="en-US" altLang="en-US" sz="8000"/>
          </a:p>
          <a:p>
            <a:r>
              <a:rPr lang="en-US" altLang="en-US" sz="8000"/>
              <a:t>Compare entire time series (e.g., sales of Product A vs Product B over 12 months).</a:t>
            </a:r>
            <a:endParaRPr lang="en-US" altLang="en-US" sz="8000"/>
          </a:p>
          <a:p>
            <a:pPr marL="0" indent="0">
              <a:buNone/>
            </a:pPr>
            <a:r>
              <a:rPr lang="en-US" altLang="en-US" sz="8000"/>
              <a:t>2. Subsequence similarity</a:t>
            </a:r>
            <a:endParaRPr lang="en-US" altLang="en-US" sz="8000"/>
          </a:p>
          <a:p>
            <a:r>
              <a:rPr lang="en-US" altLang="en-US" sz="8000"/>
              <a:t>Find small patterns within a long time series (e.g., detecting “spikes” in electricity usage).</a:t>
            </a:r>
            <a:endParaRPr lang="en-US" altLang="en-US" sz="8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Distance Measures in </a:t>
            </a:r>
            <a:r>
              <a:rPr lang="en-US" altLang="en-US">
                <a:sym typeface="+mn-ea"/>
              </a:rPr>
              <a:t>Similarity Search</a:t>
            </a:r>
            <a:endParaRPr lang="en-US" altLang="en-US"/>
          </a:p>
        </p:txBody>
      </p:sp>
      <p:pic>
        <p:nvPicPr>
          <p:cNvPr id="4" name="Content Placeholder 3"/>
          <p:cNvPicPr>
            <a:picLocks noChangeAspect="1"/>
          </p:cNvPicPr>
          <p:nvPr>
            <p:ph idx="1"/>
          </p:nvPr>
        </p:nvPicPr>
        <p:blipFill>
          <a:blip r:embed="rId1"/>
          <a:stretch>
            <a:fillRect/>
          </a:stretch>
        </p:blipFill>
        <p:spPr>
          <a:xfrm>
            <a:off x="506730" y="1527175"/>
            <a:ext cx="8153400" cy="419925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Similarity Search in R</a:t>
            </a:r>
            <a:endParaRPr lang="en-US" altLang="en-US"/>
          </a:p>
        </p:txBody>
      </p:sp>
      <p:sp>
        <p:nvSpPr>
          <p:cNvPr id="3" name="Content Placeholder 2"/>
          <p:cNvSpPr>
            <a:spLocks noGrp="1"/>
          </p:cNvSpPr>
          <p:nvPr>
            <p:ph idx="1"/>
          </p:nvPr>
        </p:nvSpPr>
        <p:spPr/>
        <p:txBody>
          <a:bodyPr>
            <a:normAutofit fontScale="70000"/>
          </a:bodyPr>
          <a:p>
            <a:r>
              <a:rPr lang="en-US" altLang="en-US"/>
              <a:t>Euclidean distance with dist()</a:t>
            </a:r>
            <a:endParaRPr lang="en-US" altLang="en-US"/>
          </a:p>
          <a:p>
            <a:pPr marL="0" indent="0">
              <a:buNone/>
            </a:pPr>
            <a:r>
              <a:rPr lang="en-US" altLang="en-US"/>
              <a:t>x &lt;- c(1, 2, 3, 4, 5)</a:t>
            </a:r>
            <a:endParaRPr lang="en-US" altLang="en-US"/>
          </a:p>
          <a:p>
            <a:pPr marL="0" indent="0">
              <a:buNone/>
            </a:pPr>
            <a:r>
              <a:rPr lang="en-US" altLang="en-US"/>
              <a:t>y &lt;- c(2, 3, 4, 5, 6)</a:t>
            </a:r>
            <a:endParaRPr lang="en-US" altLang="en-US"/>
          </a:p>
          <a:p>
            <a:pPr marL="0" indent="0">
              <a:buNone/>
            </a:pPr>
            <a:r>
              <a:rPr lang="en-US" altLang="en-US"/>
              <a:t>dist(rbind(x, y), method="euclidean")</a:t>
            </a:r>
            <a:endParaRPr lang="en-US" altLang="en-US"/>
          </a:p>
          <a:p>
            <a:pPr marL="0" indent="0">
              <a:buNone/>
            </a:pPr>
            <a:endParaRPr lang="en-US" altLang="en-US"/>
          </a:p>
          <a:p>
            <a:r>
              <a:rPr lang="en-US" altLang="en-US"/>
              <a:t>Dynamic Time Warping with dtw package</a:t>
            </a:r>
            <a:endParaRPr lang="en-US" altLang="en-US"/>
          </a:p>
          <a:p>
            <a:pPr marL="0" indent="0">
              <a:buNone/>
            </a:pPr>
            <a:r>
              <a:rPr lang="en-US" altLang="en-US"/>
              <a:t>library(dtw)</a:t>
            </a:r>
            <a:endParaRPr lang="en-US" altLang="en-US"/>
          </a:p>
          <a:p>
            <a:pPr marL="0" indent="0">
              <a:buNone/>
            </a:pPr>
            <a:r>
              <a:rPr lang="en-US" altLang="en-US"/>
              <a:t>x &lt;- sin(1:100/10)</a:t>
            </a:r>
            <a:endParaRPr lang="en-US" altLang="en-US"/>
          </a:p>
          <a:p>
            <a:pPr marL="0" indent="0">
              <a:buNone/>
            </a:pPr>
            <a:r>
              <a:rPr lang="en-US" altLang="en-US"/>
              <a:t>y &lt;- cos(1:100/10)</a:t>
            </a:r>
            <a:endParaRPr lang="en-US" altLang="en-US"/>
          </a:p>
          <a:p>
            <a:pPr marL="0" indent="0">
              <a:buNone/>
            </a:pPr>
            <a:r>
              <a:rPr lang="en-US" altLang="en-US"/>
              <a:t>alignment &lt;- dtw(x, y)</a:t>
            </a:r>
            <a:endParaRPr lang="en-US" altLang="en-US"/>
          </a:p>
          <a:p>
            <a:pPr marL="0" indent="0">
              <a:buNone/>
            </a:pPr>
            <a:r>
              <a:rPr lang="en-US" altLang="en-US"/>
              <a:t>plot(alignment, type="twoway")</a:t>
            </a:r>
            <a:endParaRPr lang="en-US" altLang="en-US"/>
          </a:p>
          <a:p>
            <a:pPr marL="0" indent="0">
              <a:buNone/>
            </a:pPr>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Applications of Similarity Search</a:t>
            </a:r>
            <a:endParaRPr lang="en-US" altLang="en-US"/>
          </a:p>
        </p:txBody>
      </p:sp>
      <p:sp>
        <p:nvSpPr>
          <p:cNvPr id="3" name="Content Placeholder 2"/>
          <p:cNvSpPr>
            <a:spLocks noGrp="1"/>
          </p:cNvSpPr>
          <p:nvPr>
            <p:ph idx="1"/>
          </p:nvPr>
        </p:nvSpPr>
        <p:spPr/>
        <p:txBody>
          <a:bodyPr>
            <a:normAutofit/>
          </a:bodyPr>
          <a:p>
            <a:r>
              <a:rPr lang="en-US" altLang="en-US"/>
              <a:t>Finance: Finding stocks that move in similar patterns.</a:t>
            </a:r>
            <a:endParaRPr lang="en-US" altLang="en-US"/>
          </a:p>
          <a:p>
            <a:r>
              <a:rPr lang="en-US" altLang="en-US"/>
              <a:t>Retail: Identifying products with similar sales trends.</a:t>
            </a:r>
            <a:endParaRPr lang="en-US" altLang="en-US"/>
          </a:p>
          <a:p>
            <a:r>
              <a:rPr lang="en-US" altLang="en-US"/>
              <a:t>Healthcare: Matching patient heart rate/ECG patterns.</a:t>
            </a:r>
            <a:endParaRPr lang="en-US" altLang="en-US"/>
          </a:p>
          <a:p>
            <a:r>
              <a:rPr lang="en-US" altLang="en-US"/>
              <a:t>IoT &amp; Sensor data: Detecting anomalies in machine activity.</a:t>
            </a:r>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Regression and Trend Analysis in Time Series Data</a:t>
            </a:r>
            <a:endParaRPr lang="en-US" altLang="en-US"/>
          </a:p>
        </p:txBody>
      </p:sp>
      <p:sp>
        <p:nvSpPr>
          <p:cNvPr id="3" name="Content Placeholder 2"/>
          <p:cNvSpPr>
            <a:spLocks noGrp="1"/>
          </p:cNvSpPr>
          <p:nvPr>
            <p:ph idx="1"/>
          </p:nvPr>
        </p:nvSpPr>
        <p:spPr/>
        <p:txBody>
          <a:bodyPr>
            <a:normAutofit lnSpcReduction="20000"/>
          </a:bodyPr>
          <a:p>
            <a:r>
              <a:rPr lang="en-US" altLang="en-US"/>
              <a:t>Trend = long-term increase or decrease in time series.</a:t>
            </a:r>
            <a:endParaRPr lang="en-US" altLang="en-US"/>
          </a:p>
          <a:p>
            <a:r>
              <a:rPr lang="en-US" altLang="en-US"/>
              <a:t>Regression = statistical method to model relationship between time (independent variable) and observed values (dependent variable).</a:t>
            </a:r>
            <a:endParaRPr lang="en-US" altLang="en-US"/>
          </a:p>
          <a:p>
            <a:r>
              <a:rPr lang="en-US" altLang="en-US"/>
              <a:t>Helps to identify underlying growth/decline in data</a:t>
            </a:r>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Types of Trends</a:t>
            </a:r>
            <a:endParaRPr lang="en-US" altLang="en-US"/>
          </a:p>
        </p:txBody>
      </p:sp>
      <p:sp>
        <p:nvSpPr>
          <p:cNvPr id="3" name="Content Placeholder 2"/>
          <p:cNvSpPr>
            <a:spLocks noGrp="1"/>
          </p:cNvSpPr>
          <p:nvPr>
            <p:ph idx="1"/>
          </p:nvPr>
        </p:nvSpPr>
        <p:spPr/>
        <p:txBody>
          <a:bodyPr>
            <a:normAutofit fontScale="80000"/>
          </a:bodyPr>
          <a:p>
            <a:pPr marL="0" indent="0">
              <a:buNone/>
            </a:pPr>
            <a:r>
              <a:rPr lang="en-US" altLang="en-US"/>
              <a:t>1. Linear Trend: Straight-line growth/decline.</a:t>
            </a:r>
            <a:endParaRPr lang="en-US" altLang="en-US"/>
          </a:p>
          <a:p>
            <a:r>
              <a:rPr lang="en-US" altLang="en-US"/>
              <a:t>Example: Annual increase in population.</a:t>
            </a:r>
            <a:endParaRPr lang="en-US" altLang="en-US"/>
          </a:p>
          <a:p>
            <a:endParaRPr lang="en-US" altLang="en-US"/>
          </a:p>
          <a:p>
            <a:pPr marL="0" indent="0">
              <a:buNone/>
            </a:pPr>
            <a:r>
              <a:rPr lang="en-US" altLang="en-US"/>
              <a:t>2. Exponential Trend: Growth/decay that accelerates over time.</a:t>
            </a:r>
            <a:endParaRPr lang="en-US" altLang="en-US"/>
          </a:p>
          <a:p>
            <a:r>
              <a:rPr lang="en-US" altLang="en-US"/>
              <a:t>Example: Viral spread of information.</a:t>
            </a:r>
            <a:endParaRPr lang="en-US" altLang="en-US"/>
          </a:p>
          <a:p>
            <a:endParaRPr lang="en-US" altLang="en-US"/>
          </a:p>
          <a:p>
            <a:pPr marL="0" indent="0">
              <a:buNone/>
            </a:pPr>
            <a:r>
              <a:rPr lang="en-US" altLang="en-US"/>
              <a:t>3. Polynomial Trend: Curved pattern (quadratic, cubic).</a:t>
            </a:r>
            <a:endParaRPr lang="en-US" altLang="en-US"/>
          </a:p>
          <a:p>
            <a:r>
              <a:rPr lang="en-US" altLang="en-US"/>
              <a:t>Example: Business cycles with ups and downs.</a:t>
            </a:r>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Regression for Trend Estimation</a:t>
            </a:r>
            <a:endParaRPr lang="en-US" altLang="en-US"/>
          </a:p>
        </p:txBody>
      </p:sp>
      <p:pic>
        <p:nvPicPr>
          <p:cNvPr id="4" name="Content Placeholder 3"/>
          <p:cNvPicPr>
            <a:picLocks noChangeAspect="1"/>
          </p:cNvPicPr>
          <p:nvPr>
            <p:ph idx="1"/>
          </p:nvPr>
        </p:nvPicPr>
        <p:blipFill>
          <a:blip r:embed="rId1"/>
          <a:stretch>
            <a:fillRect/>
          </a:stretch>
        </p:blipFill>
        <p:spPr>
          <a:xfrm>
            <a:off x="379095" y="1426210"/>
            <a:ext cx="7858125" cy="482409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Linear Regression in R</a:t>
            </a:r>
            <a:endParaRPr lang="en-US" altLang="en-US"/>
          </a:p>
        </p:txBody>
      </p:sp>
      <p:sp>
        <p:nvSpPr>
          <p:cNvPr id="3" name="Content Placeholder 2"/>
          <p:cNvSpPr>
            <a:spLocks noGrp="1"/>
          </p:cNvSpPr>
          <p:nvPr>
            <p:ph idx="1"/>
          </p:nvPr>
        </p:nvSpPr>
        <p:spPr/>
        <p:txBody>
          <a:bodyPr>
            <a:normAutofit lnSpcReduction="20000"/>
          </a:bodyPr>
          <a:p>
            <a:pPr marL="0" indent="0">
              <a:buNone/>
            </a:pPr>
            <a:r>
              <a:rPr lang="en-US" altLang="en-US"/>
              <a:t>time &lt;- 1:10</a:t>
            </a:r>
            <a:endParaRPr lang="en-US" altLang="en-US"/>
          </a:p>
          <a:p>
            <a:pPr marL="0" indent="0">
              <a:buNone/>
            </a:pPr>
            <a:r>
              <a:rPr lang="en-US" altLang="en-US"/>
              <a:t>sales &lt;- c(20, 23, 25, 27, 30, 34, 36, 39, 41, 44)</a:t>
            </a:r>
            <a:endParaRPr lang="en-US" altLang="en-US"/>
          </a:p>
          <a:p>
            <a:pPr marL="0" indent="0">
              <a:buNone/>
            </a:pPr>
            <a:endParaRPr lang="en-US" altLang="en-US"/>
          </a:p>
          <a:p>
            <a:pPr marL="0" indent="0">
              <a:buNone/>
            </a:pPr>
            <a:r>
              <a:rPr lang="en-US" altLang="en-US"/>
              <a:t>model &lt;- lm(sales ~ time)</a:t>
            </a:r>
            <a:endParaRPr lang="en-US" altLang="en-US"/>
          </a:p>
          <a:p>
            <a:pPr marL="0" indent="0">
              <a:buNone/>
            </a:pPr>
            <a:r>
              <a:rPr lang="en-US" altLang="en-US"/>
              <a:t>summary(model)</a:t>
            </a:r>
            <a:endParaRPr lang="en-US" altLang="en-US"/>
          </a:p>
          <a:p>
            <a:pPr marL="0" indent="0">
              <a:buNone/>
            </a:pPr>
            <a:endParaRPr lang="en-US" altLang="en-US"/>
          </a:p>
          <a:p>
            <a:pPr marL="0" indent="0">
              <a:buNone/>
            </a:pPr>
            <a:r>
              <a:rPr lang="en-US" altLang="en-US"/>
              <a:t>plot(time, sales, main="Sales Trend", col="blue", pch=19)</a:t>
            </a:r>
            <a:endParaRPr lang="en-US" altLang="en-US"/>
          </a:p>
          <a:p>
            <a:pPr marL="0" indent="0">
              <a:buNone/>
            </a:pPr>
            <a:r>
              <a:rPr lang="en-US" altLang="en-US"/>
              <a:t>abline(model, col="red", lwd=2)</a:t>
            </a:r>
            <a:endParaRPr lang="en-US" altLang="en-US"/>
          </a:p>
          <a:p>
            <a:pPr marL="0" indent="0">
              <a:buNone/>
            </a:pPr>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Applications</a:t>
            </a:r>
            <a:endParaRPr lang="en-US" altLang="en-US"/>
          </a:p>
        </p:txBody>
      </p:sp>
      <p:sp>
        <p:nvSpPr>
          <p:cNvPr id="3" name="Content Placeholder 2"/>
          <p:cNvSpPr>
            <a:spLocks noGrp="1"/>
          </p:cNvSpPr>
          <p:nvPr>
            <p:ph idx="1"/>
          </p:nvPr>
        </p:nvSpPr>
        <p:spPr/>
        <p:txBody>
          <a:bodyPr/>
          <a:p>
            <a:r>
              <a:rPr lang="en-US" altLang="en-US"/>
              <a:t>Forecasting future demand/sales.</a:t>
            </a:r>
            <a:endParaRPr lang="en-US" altLang="en-US"/>
          </a:p>
          <a:p>
            <a:r>
              <a:rPr lang="en-US" altLang="en-US"/>
              <a:t>Identifying growth patterns in population, GDP, climate data.</a:t>
            </a:r>
            <a:endParaRPr lang="en-US" altLang="en-US"/>
          </a:p>
          <a:p>
            <a:r>
              <a:rPr lang="en-US" altLang="en-US"/>
              <a:t>Detecting decline in machine performance, website traffic, etc.</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14548</Words>
  <Application>WPS Presentation</Application>
  <PresentationFormat>On-screen Show (4:3)</PresentationFormat>
  <Paragraphs>396</Paragraphs>
  <Slides>51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51</vt:i4>
      </vt:variant>
    </vt:vector>
  </HeadingPairs>
  <TitlesOfParts>
    <vt:vector size="59" baseType="lpstr">
      <vt:lpstr>Arial</vt:lpstr>
      <vt:lpstr>SimSun</vt:lpstr>
      <vt:lpstr>Wingdings</vt:lpstr>
      <vt:lpstr>Arial</vt:lpstr>
      <vt:lpstr>Calibri</vt:lpstr>
      <vt:lpstr>Microsoft YaHei</vt:lpstr>
      <vt:lpstr>Arial Unicode MS</vt:lpstr>
      <vt:lpstr>Office Theme</vt:lpstr>
      <vt:lpstr>Time Series in R</vt:lpstr>
      <vt:lpstr>Introduction to Time Series Data</vt:lpstr>
      <vt:lpstr>Components of a Time Series</vt:lpstr>
      <vt:lpstr>PowerPoint 演示文稿</vt:lpstr>
      <vt:lpstr>PowerPoint 演示文稿</vt:lpstr>
      <vt:lpstr>Basic R Commands for Data Visualisation (8.2.1)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Ramya sri Munukuntla</cp:lastModifiedBy>
  <cp:revision>5</cp:revision>
  <dcterms:created xsi:type="dcterms:W3CDTF">2013-01-27T09:14:00Z</dcterms:created>
  <dcterms:modified xsi:type="dcterms:W3CDTF">2025-09-30T16:01:24Z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6C2B9CEB903D4825B15D3093336954A9_12</vt:lpwstr>
  </property>
  <property fmtid="{D5CDD505-2E9C-101B-9397-08002B2CF9AE}" pid="3" name="KSOProductBuildVer">
    <vt:lpwstr>1033-12.2.0.22549</vt:lpwstr>
  </property>
</Properties>
</file>