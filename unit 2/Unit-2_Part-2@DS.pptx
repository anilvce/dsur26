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71" r:id="rId10"/>
    <p:sldId id="272" r:id="rId11"/>
    <p:sldId id="273" r:id="rId12"/>
    <p:sldId id="279" r:id="rId13"/>
    <p:sldId id="289" r:id="rId14"/>
    <p:sldId id="280" r:id="rId15"/>
    <p:sldId id="281" r:id="rId16"/>
    <p:sldId id="277" r:id="rId17"/>
    <p:sldId id="282" r:id="rId18"/>
    <p:sldId id="283" r:id="rId19"/>
    <p:sldId id="284" r:id="rId20"/>
    <p:sldId id="285" r:id="rId21"/>
    <p:sldId id="290" r:id="rId22"/>
    <p:sldId id="286" r:id="rId23"/>
    <p:sldId id="288" r:id="rId24"/>
    <p:sldId id="287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63" r:id="rId34"/>
    <p:sldId id="264" r:id="rId35"/>
    <p:sldId id="274" r:id="rId36"/>
    <p:sldId id="299" r:id="rId37"/>
    <p:sldId id="300" r:id="rId38"/>
    <p:sldId id="301" r:id="rId39"/>
    <p:sldId id="302" r:id="rId40"/>
    <p:sldId id="303" r:id="rId41"/>
    <p:sldId id="306" r:id="rId42"/>
    <p:sldId id="304" r:id="rId43"/>
    <p:sldId id="307" r:id="rId44"/>
    <p:sldId id="305" r:id="rId45"/>
    <p:sldId id="308" r:id="rId46"/>
    <p:sldId id="275" r:id="rId47"/>
    <p:sldId id="276" r:id="rId48"/>
    <p:sldId id="265" r:id="rId49"/>
    <p:sldId id="266" r:id="rId50"/>
    <p:sldId id="267" r:id="rId51"/>
    <p:sldId id="268" r:id="rId52"/>
    <p:sldId id="269" r:id="rId53"/>
    <p:sldId id="270" r:id="rId5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7" Type="http://schemas.openxmlformats.org/officeDocument/2006/relationships/tableStyles" Target="tableStyles.xml"/><Relationship Id="rId56" Type="http://schemas.openxmlformats.org/officeDocument/2006/relationships/viewProps" Target="viewProps.xml"/><Relationship Id="rId55" Type="http://schemas.openxmlformats.org/officeDocument/2006/relationships/presProps" Target="presProps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Managing Data in R - Part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 -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/>
              <a:t>1. </a:t>
            </a:r>
            <a:r>
              <a:rPr sz="4400"/>
              <a:t>Cleaning Data</a:t>
            </a:r>
            <a:endParaRPr sz="4400"/>
          </a:p>
          <a:p>
            <a:pPr marL="0" indent="0">
              <a:buNone/>
            </a:pPr>
            <a:r>
              <a:rPr lang="en-US" sz="4400"/>
              <a:t>2. Sampling for Modeling and 	 	 			Validation</a:t>
            </a:r>
            <a:endParaRPr lang="en-US" sz="4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categorical data.</a:t>
            </a:r>
          </a:p>
          <a:p>
            <a:r>
              <a:t>Check levels with levels(df$col)</a:t>
            </a:r>
          </a:p>
          <a:p>
            <a:r>
              <a:t>Example:</a:t>
            </a:r>
          </a:p>
          <a:p>
            <a:r>
              <a:t>df$gender &lt;- factor(c('M', 'F', 'F'))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Renaming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Rename using:</a:t>
            </a:r>
          </a:p>
          <a:p>
            <a:r>
              <a:t>colnames(df) &lt;- c('new1','new2')</a:t>
            </a:r>
          </a:p>
          <a:p>
            <a:pPr marL="0" indent="0">
              <a:buNone/>
            </a:pPr>
            <a:r>
              <a:t>Or dplyr:</a:t>
            </a:r>
          </a:p>
          <a:p>
            <a:r>
              <a:t>df &lt;- rename(df, newname = oldname)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Filter rows based on condition:</a:t>
            </a:r>
          </a:p>
          <a:p>
            <a:r>
              <a:t>df[df$Age &gt; 25, ]</a:t>
            </a:r>
          </a:p>
          <a:p>
            <a:pPr marL="0" indent="0">
              <a:buNone/>
            </a:pPr>
            <a:r>
              <a:t>Using dplyr:</a:t>
            </a:r>
          </a:p>
          <a:p>
            <a:r>
              <a:t>filter(df, Age &gt; 25)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Sorting and Arranging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Sort with:</a:t>
            </a:r>
          </a:p>
          <a:p>
            <a:r>
              <a:t>df[order(df$col), ]</a:t>
            </a:r>
          </a:p>
          <a:p>
            <a:pPr marL="0" indent="0">
              <a:buNone/>
            </a:pPr>
            <a:r>
              <a:t>Using dplyr:</a:t>
            </a:r>
          </a:p>
          <a:p>
            <a:r>
              <a:t>df %&gt;% arrange(col)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Cleaning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Trim whitespace: trimws()</a:t>
            </a:r>
          </a:p>
          <a:p>
            <a:r>
              <a:t>Remove NA: na.omit()</a:t>
            </a:r>
          </a:p>
          <a:p>
            <a:r>
              <a:t>Replace: df[df=='?', ] &lt;- 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Cleaning Data in 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/>
              <a:t>Data cleaning is the process of transforming raw, inconsistent data into a structured format suitable for analysis. It ensures that datasets are free of errors, missing values and inconsistencies that can give incorrect analysis or poor modeling.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The main goals of data cleaning include:</a:t>
            </a: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Eliminating errors and redundancy</a:t>
            </a: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Ensuring accuracy and completeness</a:t>
            </a: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Standardizing formats and types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9545"/>
            <a:ext cx="8229600" cy="595693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2300"/>
              <a:t>Characteristics of Clean Data:</a:t>
            </a:r>
            <a:endParaRPr lang="en-US" altLang="en-US" sz="2300"/>
          </a:p>
          <a:p>
            <a:pPr marL="0" indent="0">
              <a:buNone/>
            </a:pPr>
            <a:r>
              <a:rPr lang="en-US" altLang="en-US" sz="2300"/>
              <a:t>Clean data is structured, complete and free from errors or irrelevant values.</a:t>
            </a:r>
            <a:endParaRPr lang="en-US" altLang="en-US" sz="23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300"/>
              <a:t>No duplicate rows or values</a:t>
            </a:r>
            <a:endParaRPr lang="en-US" altLang="en-US" sz="23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300"/>
              <a:t>No spelling mistakes or inconsistencies</a:t>
            </a:r>
            <a:endParaRPr lang="en-US" altLang="en-US" sz="23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300"/>
              <a:t>Correct data types</a:t>
            </a:r>
            <a:endParaRPr lang="en-US" altLang="en-US" sz="23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300"/>
              <a:t>No unwanted special characters</a:t>
            </a:r>
            <a:endParaRPr lang="en-US" altLang="en-US" sz="23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300"/>
              <a:t>Outliers handled or understood</a:t>
            </a:r>
            <a:endParaRPr lang="en-US" altLang="en-US" sz="2300"/>
          </a:p>
          <a:p>
            <a:pPr marL="0" indent="0">
              <a:buNone/>
            </a:pPr>
            <a:endParaRPr lang="en-US" altLang="en-US" sz="2300"/>
          </a:p>
          <a:p>
            <a:pPr marL="0" indent="0">
              <a:buNone/>
            </a:pPr>
            <a:r>
              <a:rPr lang="en-US" altLang="en-US" sz="2300"/>
              <a:t>Common Signs of Messy Data:</a:t>
            </a:r>
            <a:endParaRPr lang="en-US" altLang="en-US" sz="2300"/>
          </a:p>
          <a:p>
            <a:pPr marL="0" indent="0">
              <a:buNone/>
            </a:pPr>
            <a:r>
              <a:rPr lang="en-US" altLang="en-US" sz="2300"/>
              <a:t>Messy data often requires transformation or correction before use.</a:t>
            </a:r>
            <a:endParaRPr lang="en-US" altLang="en-US" sz="23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300"/>
              <a:t>Special characters (example., commas in numbers)</a:t>
            </a:r>
            <a:endParaRPr lang="en-US" altLang="en-US" sz="23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300"/>
              <a:t>Numbers stored as text</a:t>
            </a:r>
            <a:endParaRPr lang="en-US" altLang="en-US" sz="23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300"/>
              <a:t>Duplicate or missing rows</a:t>
            </a:r>
            <a:endParaRPr lang="en-US" altLang="en-US" sz="23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300"/>
              <a:t>Spelling inconsistencies</a:t>
            </a:r>
            <a:endParaRPr lang="en-US" altLang="en-US" sz="23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300"/>
              <a:t>Extra whitespace or zeros instead of nulls</a:t>
            </a:r>
            <a:endParaRPr lang="en-US" altLang="en-US" sz="2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4305"/>
            <a:ext cx="8229600" cy="5972175"/>
          </a:xfrm>
        </p:spPr>
        <p:txBody>
          <a:bodyPr>
            <a:normAutofit fontScale="40000"/>
          </a:bodyPr>
          <a:p>
            <a:pPr marL="0" indent="0">
              <a:buNone/>
            </a:pPr>
            <a:r>
              <a:rPr lang="en-US" sz="5335"/>
              <a:t>Implementation of Data Cleaning:</a:t>
            </a:r>
            <a:endParaRPr lang="en-US" sz="5335"/>
          </a:p>
          <a:p>
            <a:pPr marL="0" indent="0">
              <a:buNone/>
            </a:pPr>
            <a:r>
              <a:rPr lang="en-US" sz="5335"/>
              <a:t>1.Importing the Dataset</a:t>
            </a:r>
            <a:endParaRPr lang="en-US" sz="5335"/>
          </a:p>
          <a:p>
            <a:pPr marL="0" indent="0">
              <a:buNone/>
            </a:pPr>
            <a:r>
              <a:rPr lang="en-US" altLang="en-US" sz="5335"/>
              <a:t>2. Identify Missing Values</a:t>
            </a:r>
            <a:endParaRPr lang="en-US" altLang="en-US" sz="5335"/>
          </a:p>
          <a:p>
            <a:pPr marL="0" indent="0">
              <a:buNone/>
            </a:pPr>
            <a:r>
              <a:rPr lang="en-US" altLang="en-US" sz="5335"/>
              <a:t>3. Handle Missing Values</a:t>
            </a:r>
            <a:endParaRPr lang="en-US" altLang="en-US" sz="5335"/>
          </a:p>
          <a:p>
            <a:pPr marL="0" indent="0">
              <a:buNone/>
            </a:pPr>
            <a:r>
              <a:rPr lang="en-US" altLang="en-US" sz="5335"/>
              <a:t>4. Summary and Boxplot for Inspection</a:t>
            </a:r>
            <a:endParaRPr lang="en-US" altLang="en-US" sz="5335"/>
          </a:p>
          <a:p>
            <a:pPr marL="0" indent="0">
              <a:buNone/>
            </a:pPr>
            <a:r>
              <a:rPr lang="en-US" altLang="en-US" sz="5335"/>
              <a:t> use summary(airquality) and boxplot(airquality) to spot outliers and missing values.</a:t>
            </a:r>
            <a:endParaRPr lang="en-US" altLang="en-US" sz="5335"/>
          </a:p>
          <a:p>
            <a:pPr marL="0" indent="0">
              <a:buNone/>
            </a:pPr>
            <a:r>
              <a:rPr lang="en-US" altLang="en-US" sz="5335"/>
              <a:t>5. Replace Missing Values with Median/mean</a:t>
            </a:r>
            <a:endParaRPr lang="en-US" altLang="en-US" sz="5335"/>
          </a:p>
          <a:p>
            <a:pPr marL="0" indent="0">
              <a:buNone/>
            </a:pPr>
            <a:r>
              <a:rPr lang="en-US" altLang="en-US" sz="5335"/>
              <a:t>Replace NA values in Ozone and Solar.R with the median of their respective columns.</a:t>
            </a:r>
            <a:endParaRPr lang="en-US" altLang="en-US" sz="5335"/>
          </a:p>
          <a:p>
            <a:pPr marL="0" indent="0">
              <a:buNone/>
            </a:pPr>
            <a:r>
              <a:rPr lang="en-US" altLang="en-US" sz="5335"/>
              <a:t>6. Handling Outliers using IQR method</a:t>
            </a:r>
            <a:endParaRPr lang="en-US" altLang="en-US" sz="5335"/>
          </a:p>
          <a:p>
            <a:pPr marL="0" indent="0">
              <a:buNone/>
            </a:pPr>
            <a:r>
              <a:rPr lang="en-US" altLang="en-US" sz="5335"/>
              <a:t>using the IQR method to detect and cap outliers so they don’t influence the analysis.</a:t>
            </a:r>
            <a:endParaRPr lang="en-US" altLang="en-US" sz="5335"/>
          </a:p>
          <a:p>
            <a:pPr marL="0" indent="0">
              <a:buNone/>
            </a:pPr>
            <a:r>
              <a:rPr lang="en-US" altLang="en-US" sz="5335"/>
              <a:t>7. Visualizing the results</a:t>
            </a:r>
            <a:endParaRPr lang="en-US" altLang="en-US" sz="5335"/>
          </a:p>
          <a:p>
            <a:pPr marL="0" indent="0">
              <a:buNone/>
            </a:pPr>
            <a:r>
              <a:rPr lang="en-US" altLang="en-US" sz="5335"/>
              <a:t>After cleaning we now use the head() and boxplot() to visualise the cleaned dataset to confirm no missing values remain.</a:t>
            </a:r>
            <a:endParaRPr lang="en-US" altLang="en-US" sz="5335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798195"/>
          </a:xfrm>
        </p:spPr>
        <p:txBody>
          <a:bodyPr/>
          <a:p>
            <a:r>
              <a:rPr lang="en-US" altLang="en-US" u="sng"/>
              <a:t>Cleaning data</a:t>
            </a:r>
            <a:endParaRPr lang="en-US" altLang="en-US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85570"/>
            <a:ext cx="8229600" cy="4740910"/>
          </a:xfrm>
        </p:spPr>
        <p:txBody>
          <a:bodyPr>
            <a:normAutofit/>
          </a:bodyPr>
          <a:p>
            <a:r>
              <a:rPr lang="en-US" altLang="en-US" sz="4000"/>
              <a:t>Focuses on fixing issues identified during data exploration/visualization</a:t>
            </a:r>
            <a:endParaRPr lang="en-US" altLang="en-US" sz="4000"/>
          </a:p>
          <a:p>
            <a:r>
              <a:rPr lang="en-US" altLang="en-US" sz="4000"/>
              <a:t>Two major concerns:</a:t>
            </a:r>
            <a:endParaRPr lang="en-US" altLang="en-US" sz="4000"/>
          </a:p>
          <a:p>
            <a:pPr marL="0" indent="457200">
              <a:buNone/>
            </a:pPr>
            <a:r>
              <a:rPr lang="en-US" altLang="en-US" sz="4000"/>
              <a:t>1. Missing values: Common across most 	datasets</a:t>
            </a:r>
            <a:endParaRPr lang="en-US" altLang="en-US" sz="4000"/>
          </a:p>
          <a:p>
            <a:pPr marL="0" indent="457200">
              <a:buNone/>
            </a:pPr>
            <a:r>
              <a:rPr lang="en-US" altLang="en-US" sz="4000"/>
              <a:t>2. Invalid values: Often domain-specific and 	require context</a:t>
            </a:r>
            <a:endParaRPr lang="en-US" altLang="en-US" sz="4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8450" y="266700"/>
            <a:ext cx="8094980" cy="58597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Missing vs. Invalid Values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en-US" altLang="en-US" sz="3100"/>
              <a:t>Missing values:</a:t>
            </a:r>
            <a:endParaRPr lang="en-US" altLang="en-US" sz="3100"/>
          </a:p>
          <a:p>
            <a:r>
              <a:rPr lang="en-US" altLang="en-US" sz="3100"/>
              <a:t>Handled similarly across different projects</a:t>
            </a:r>
            <a:endParaRPr lang="en-US" altLang="en-US" sz="3100"/>
          </a:p>
          <a:p>
            <a:r>
              <a:rPr lang="en-US" altLang="en-US" sz="3100"/>
              <a:t>Can be filled, removed, or imputed based on context</a:t>
            </a:r>
            <a:endParaRPr lang="en-US" altLang="en-US" sz="3100"/>
          </a:p>
          <a:p>
            <a:endParaRPr lang="en-US" altLang="en-US" sz="3100"/>
          </a:p>
          <a:p>
            <a:pPr marL="0" indent="0">
              <a:buNone/>
            </a:pPr>
            <a:r>
              <a:rPr lang="en-US" altLang="en-US" sz="3100"/>
              <a:t>Invalid values:</a:t>
            </a:r>
            <a:endParaRPr lang="en-US" altLang="en-US" sz="3100"/>
          </a:p>
          <a:p>
            <a:r>
              <a:rPr lang="en-US" altLang="en-US" sz="3100"/>
              <a:t>Vary based on domain knowledge</a:t>
            </a:r>
            <a:endParaRPr lang="en-US" altLang="en-US" sz="3100"/>
          </a:p>
          <a:p>
            <a:r>
              <a:rPr lang="en-US" altLang="en-US" sz="3100"/>
              <a:t>Require understanding of what constitutes "valid" data</a:t>
            </a:r>
            <a:endParaRPr lang="en-US" altLang="en-US" sz="3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0975"/>
            <a:ext cx="8229600" cy="5945505"/>
          </a:xfrm>
        </p:spPr>
        <p:txBody>
          <a:bodyPr>
            <a:normAutofit fontScale="70000"/>
          </a:bodyPr>
          <a:p>
            <a:pPr marL="0" indent="0">
              <a:buNone/>
            </a:pPr>
            <a:r>
              <a:rPr lang="en-US" altLang="en-US"/>
              <a:t>Example : Suppose you have a numeric variable called credit_score. Domain knowledge will tell you what the valid range for that variable should be. If the credit score is supposed to be a customer’s “classic FICO score,” then any value outside the range 300–850 should be treated as invalid. Other types of credit scores will have different ranges of valid values.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We’ll look at an example of domain-specific data cleaning first.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Example: Domain-Specific Cleaning</a:t>
            </a:r>
            <a:endParaRPr lang="en-US" altLang="en-US"/>
          </a:p>
          <a:p>
            <a:r>
              <a:rPr lang="en-US" altLang="en-US"/>
              <a:t>Variable: credit_score</a:t>
            </a:r>
            <a:endParaRPr lang="en-US" altLang="en-US"/>
          </a:p>
          <a:p>
            <a:r>
              <a:rPr lang="en-US" altLang="en-US"/>
              <a:t>If representing FICO score: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1. Valid range = 300 to 850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2. Any value outside this range = invalid</a:t>
            </a:r>
            <a:endParaRPr lang="en-US" altLang="en-US"/>
          </a:p>
          <a:p>
            <a:r>
              <a:rPr lang="en-US" altLang="en-US"/>
              <a:t>Other credit score types may have different valid ranges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799465"/>
          </a:xfrm>
        </p:spPr>
        <p:txBody>
          <a:bodyPr/>
          <a:p>
            <a:r>
              <a:rPr lang="en-US" altLang="en-US"/>
              <a:t>1.Domain-specific data cleaning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0300"/>
            <a:ext cx="8229600" cy="4996180"/>
          </a:xfrm>
        </p:spPr>
        <p:txBody>
          <a:bodyPr>
            <a:noAutofit/>
          </a:bodyPr>
          <a:p>
            <a:r>
              <a:rPr lang="en-US" altLang="en-US" sz="2000"/>
              <a:t>Identified issues from data exploration: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1. gas_usage Variable</a:t>
            </a:r>
            <a:endParaRPr lang="en-US" altLang="en-US" sz="2000"/>
          </a:p>
          <a:p>
            <a:r>
              <a:rPr lang="en-US" altLang="en-US" sz="2000"/>
              <a:t>Mixes numeric and symbolic values: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&gt; 3 → Monthly gas bills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1–3 → Special codes</a:t>
            </a:r>
            <a:endParaRPr lang="en-US" altLang="en-US" sz="2000"/>
          </a:p>
          <a:p>
            <a:r>
              <a:rPr lang="en-US" altLang="en-US" sz="2000"/>
              <a:t>Contains missing values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2. age Variable</a:t>
            </a:r>
            <a:endParaRPr lang="en-US" altLang="en-US" sz="2000"/>
          </a:p>
          <a:p>
            <a:r>
              <a:rPr lang="en-US" altLang="en-US" sz="2000"/>
              <a:t>Value = 0 → Treated as invalid (likely unknown)</a:t>
            </a:r>
            <a:endParaRPr lang="en-US" altLang="en-US" sz="2000"/>
          </a:p>
          <a:p>
            <a:r>
              <a:rPr lang="en-US" altLang="en-US" sz="2000"/>
              <a:t>Ages &gt; 100 → Treated as valid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3. income Variable</a:t>
            </a:r>
            <a:endParaRPr lang="en-US" altLang="en-US" sz="2000"/>
          </a:p>
          <a:p>
            <a:r>
              <a:rPr lang="en-US" altLang="en-US" sz="2000"/>
              <a:t>Negative values → Considered invalid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Handling Strategy: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Convert invalid values (age = 0, negative income) to NA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Treat NA values using automatic missing-value methods</a:t>
            </a:r>
            <a:endParaRPr lang="en-US" altLang="en-US"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635" y="275590"/>
            <a:ext cx="9144635" cy="643191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64515" y="255270"/>
            <a:ext cx="8122920" cy="611568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Code:</a:t>
            </a:r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18540" y="2106930"/>
            <a:ext cx="7105650" cy="362013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993140"/>
          </a:xfrm>
        </p:spPr>
        <p:txBody>
          <a:bodyPr/>
          <a:p>
            <a:r>
              <a:rPr lang="en-US" altLang="en-US"/>
              <a:t>2. Treating Missing Values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 sz="1780"/>
              <a:t>General Strategies</a:t>
            </a:r>
            <a:endParaRPr lang="en-US" altLang="en-US" sz="1780"/>
          </a:p>
          <a:p>
            <a:r>
              <a:rPr lang="en-US" altLang="en-US" sz="1780"/>
              <a:t>Count missing values in each column to identify issues.</a:t>
            </a:r>
            <a:endParaRPr lang="en-US" altLang="en-US" sz="1780"/>
          </a:p>
          <a:p>
            <a:r>
              <a:rPr lang="en-US" altLang="en-US" sz="1780"/>
              <a:t>Three ways to handle missing values:</a:t>
            </a:r>
            <a:endParaRPr lang="en-US" altLang="en-US" sz="1780"/>
          </a:p>
          <a:p>
            <a:pPr marL="0" indent="457200">
              <a:buNone/>
            </a:pPr>
            <a:r>
              <a:rPr lang="en-US" altLang="en-US" sz="1780"/>
              <a:t>1. Drop rows with missing values.</a:t>
            </a:r>
            <a:endParaRPr lang="en-US" altLang="en-US" sz="1780"/>
          </a:p>
          <a:p>
            <a:pPr marL="0" indent="457200">
              <a:buNone/>
            </a:pPr>
            <a:r>
              <a:rPr lang="en-US" altLang="en-US" sz="1780"/>
              <a:t>2. Convert missing values to NA or meaningful values.</a:t>
            </a:r>
            <a:endParaRPr lang="en-US" altLang="en-US" sz="1780"/>
          </a:p>
          <a:p>
            <a:pPr marL="0" indent="457200">
              <a:buNone/>
            </a:pPr>
            <a:r>
              <a:rPr lang="en-US" altLang="en-US" sz="1780"/>
              <a:t>3. Use automated algorithms that handle missing data (e.g., in R or other tools).</a:t>
            </a:r>
            <a:endParaRPr lang="en-US" altLang="en-US" sz="178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75" y="3608070"/>
            <a:ext cx="8176895" cy="25298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9890" y="1418590"/>
            <a:ext cx="8297545" cy="484759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821055"/>
          </a:xfrm>
        </p:spPr>
        <p:txBody>
          <a:bodyPr>
            <a:normAutofit fontScale="90000"/>
          </a:bodyPr>
          <a:p>
            <a:r>
              <a:rPr lang="en-US" altLang="en-US"/>
              <a:t>Handling Missing Categorical Values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0620"/>
            <a:ext cx="8229600" cy="4975860"/>
          </a:xfrm>
        </p:spPr>
        <p:txBody>
          <a:bodyPr/>
          <a:p>
            <a:r>
              <a:rPr lang="en-US" altLang="en-US" sz="2000"/>
              <a:t>Create a new level to represent missing category values.</a:t>
            </a:r>
            <a:endParaRPr lang="en-US" altLang="en-US" sz="2000"/>
          </a:p>
          <a:p>
            <a:r>
              <a:rPr lang="en-US" altLang="en-US" sz="2000"/>
              <a:t>Example: Replace missing values with a new level like "__invalid__" in variables such as housing_type.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145" y="2173605"/>
            <a:ext cx="7542530" cy="438213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>
                <a:sym typeface="+mn-ea"/>
              </a:rPr>
              <a:t>Handling Missing Numeric or Logical Values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pPr marL="0" indent="0">
              <a:buNone/>
            </a:pPr>
            <a:r>
              <a:rPr lang="en-US" altLang="en-US"/>
              <a:t>Example: income variable with many missing values.</a:t>
            </a:r>
            <a:endParaRPr lang="en-US" altLang="en-US"/>
          </a:p>
          <a:p>
            <a:r>
              <a:rPr lang="en-US" altLang="en-US"/>
              <a:t>Still important for prediction (e.g., health insurance coverage).</a:t>
            </a:r>
            <a:endParaRPr lang="en-US" altLang="en-US"/>
          </a:p>
          <a:p>
            <a:r>
              <a:rPr lang="en-US" altLang="en-US"/>
              <a:t>Possible Solutions: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1. Mean/Median imputation: Replace missing with average value.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2. Model-based estimation: Use other variables to predict missing values.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3. Statistical imputation: Replace with a reasonable estimate assuming missing at random.</a:t>
            </a:r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18160" y="751205"/>
            <a:ext cx="3133090" cy="57727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080" y="361315"/>
            <a:ext cx="5113655" cy="6248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TREATING MISSING VALUES AS INFORMATION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07365" y="1705610"/>
            <a:ext cx="8225790" cy="47955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3. The vtreat package for automatically treating missing variables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p>
            <a:r>
              <a:rPr lang="en-US" altLang="en-US"/>
              <a:t>Missing values are very common in real-world data.</a:t>
            </a:r>
            <a:endParaRPr lang="en-US" altLang="en-US"/>
          </a:p>
          <a:p>
            <a:r>
              <a:rPr lang="en-US" altLang="en-US"/>
              <a:t>vtreat provides an automatic and repeatable way to handle them.</a:t>
            </a:r>
            <a:endParaRPr lang="en-US" altLang="en-US"/>
          </a:p>
          <a:p>
            <a:r>
              <a:rPr lang="en-US" altLang="en-US"/>
              <a:t>Ensures that data is “safe” for modeling: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1. No missing or unexpected values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2. Prevents data issues from harming model accuracy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/>
              <a:t>Key Features of vtreat</a:t>
            </a:r>
            <a:endParaRPr lang="en-US" altLang="en-US"/>
          </a:p>
          <a:p>
            <a:r>
              <a:rPr lang="en-US" altLang="en-US"/>
              <a:t>Generates a treatment plan that: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1. Records averages for numeric variables (e.g., income)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2. Tracks all observed levels of categorical variables (e.g., housing_type)</a:t>
            </a:r>
            <a:endParaRPr lang="en-US" altLang="en-US"/>
          </a:p>
          <a:p>
            <a:r>
              <a:rPr lang="en-US" altLang="en-US"/>
              <a:t>Same treatment plan is used for: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1. Training data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2. New (test) data</a:t>
            </a:r>
            <a:endParaRPr lang="en-US" altLang="en-US"/>
          </a:p>
          <a:p>
            <a:r>
              <a:rPr lang="en-US" altLang="en-US"/>
              <a:t>Promotes consistent preprocessing</a:t>
            </a:r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23925" y="510540"/>
            <a:ext cx="7196455" cy="248285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923925" y="3823970"/>
            <a:ext cx="703516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Basic vtreat Workflow:</a:t>
            </a:r>
            <a:endParaRPr lang="en-US" altLang="en-US"/>
          </a:p>
          <a:p>
            <a:r>
              <a:rPr lang="en-US" altLang="en-US"/>
              <a:t>1. Define input variables (exclude custid and target variable like 	health_ins)</a:t>
            </a:r>
            <a:endParaRPr lang="en-US" altLang="en-US"/>
          </a:p>
          <a:p>
            <a:r>
              <a:rPr lang="en-US" altLang="en-US"/>
              <a:t>2. Create a treatment plan</a:t>
            </a:r>
            <a:endParaRPr lang="en-US" altLang="en-US"/>
          </a:p>
          <a:p>
            <a:r>
              <a:rPr lang="en-US" altLang="en-US"/>
              <a:t>3. Use the plan to prepare both training and new datasets</a:t>
            </a:r>
            <a:endParaRPr lang="en-US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2110" y="405130"/>
            <a:ext cx="8562975" cy="613981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3530" y="494665"/>
            <a:ext cx="8506460" cy="36772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3874770"/>
            <a:ext cx="7575550" cy="262826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92075"/>
            <a:ext cx="8878570" cy="676592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1930"/>
            <a:ext cx="8229600" cy="5924550"/>
          </a:xfrm>
        </p:spPr>
        <p:txBody>
          <a:bodyPr>
            <a:normAutofit fontScale="60000"/>
          </a:bodyPr>
          <a:p>
            <a:pPr marL="0" indent="0">
              <a:buNone/>
            </a:pPr>
            <a:r>
              <a:rPr lang="en-US" altLang="en-US" u="sng"/>
              <a:t>How vtreat Handles Missing Values:</a:t>
            </a:r>
            <a:endParaRPr lang="en-US" altLang="en-US" u="sng"/>
          </a:p>
          <a:p>
            <a:pPr marL="0" indent="0">
              <a:buNone/>
            </a:pPr>
            <a:endParaRPr lang="en-US" altLang="en-US" u="sng"/>
          </a:p>
          <a:p>
            <a:pPr marL="0" indent="0">
              <a:buNone/>
            </a:pPr>
            <a:r>
              <a:rPr lang="zh-CN" altLang="en-US"/>
              <a:t>🔹</a:t>
            </a:r>
            <a:r>
              <a:rPr lang="en-US" altLang="en-US"/>
              <a:t> Categorical Variables</a:t>
            </a:r>
            <a:endParaRPr lang="en-US" altLang="en-US"/>
          </a:p>
          <a:p>
            <a:r>
              <a:rPr lang="en-US" altLang="en-US"/>
              <a:t>Missing values are replaced with a new token:</a:t>
            </a:r>
            <a:endParaRPr lang="en-US" altLang="en-US"/>
          </a:p>
          <a:p>
            <a:r>
              <a:rPr lang="en-US" altLang="en-US"/>
              <a:t>→ _invalid_</a:t>
            </a:r>
            <a:endParaRPr lang="en-US" altLang="en-US"/>
          </a:p>
          <a:p>
            <a:r>
              <a:rPr lang="en-US" altLang="en-US"/>
              <a:t>(e.g., housing_type = NA becomes "_invalid_")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zh-CN" altLang="en-US"/>
              <a:t>🔹</a:t>
            </a:r>
            <a:r>
              <a:rPr lang="en-US" altLang="en-US"/>
              <a:t> Numeric Variables</a:t>
            </a:r>
            <a:endParaRPr lang="en-US" altLang="en-US"/>
          </a:p>
          <a:p>
            <a:r>
              <a:rPr lang="en-US" altLang="en-US"/>
              <a:t>Missing values are replaced with the mean of that variable</a:t>
            </a:r>
            <a:endParaRPr lang="en-US" altLang="en-US"/>
          </a:p>
          <a:p>
            <a:r>
              <a:rPr lang="en-US" altLang="en-US"/>
              <a:t>(e.g., num_vehicles = NA → replaced with mean value)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zh-CN" altLang="en-US"/>
              <a:t>🔹</a:t>
            </a:r>
            <a:r>
              <a:rPr lang="en-US" altLang="en-US"/>
              <a:t> Logical Variables</a:t>
            </a:r>
            <a:endParaRPr lang="en-US" altLang="en-US"/>
          </a:p>
          <a:p>
            <a:r>
              <a:rPr lang="en-US" altLang="en-US"/>
              <a:t>Converted to numeric (0/1) format</a:t>
            </a:r>
            <a:endParaRPr lang="en-US" altLang="en-US"/>
          </a:p>
          <a:p>
            <a:r>
              <a:rPr lang="en-US" altLang="en-US"/>
              <a:t>Missing values are replaced with the mean</a:t>
            </a:r>
            <a:endParaRPr lang="en-US" altLang="en-US"/>
          </a:p>
          <a:p>
            <a:r>
              <a:rPr lang="en-US" altLang="en-US"/>
              <a:t>(e.g., if is_employed = NA, replaced with average of non-missing values)</a:t>
            </a:r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22910"/>
            <a:ext cx="8229600" cy="570357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Beyond Missing Value Treatment</a:t>
            </a:r>
            <a:endParaRPr lang="en-US" altLang="en-US"/>
          </a:p>
          <a:p>
            <a:r>
              <a:rPr lang="en-US" altLang="en-US"/>
              <a:t>vtreat helps with more than missing values</a:t>
            </a:r>
            <a:endParaRPr lang="en-US" altLang="en-US"/>
          </a:p>
          <a:p>
            <a:r>
              <a:rPr lang="en-US" altLang="en-US"/>
              <a:t>Supports data transformations to address: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1. Invalid values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2. Categorical encoding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3. Inconsistent formats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4. These help make the data ready for modeling</a:t>
            </a:r>
            <a:endParaRPr lang="en-US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mutate to add new columns:</a:t>
            </a:r>
          </a:p>
          <a:p>
            <a:r>
              <a:t>df %&gt;% mutate(new = col1 + col2)</a:t>
            </a:r>
          </a:p>
          <a:p>
            <a:r>
              <a:t>Use transmute to drop old columns.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Combining Data Frames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rbind() to bind rows, cbind() for columns.</a:t>
            </a:r>
          </a:p>
          <a:p>
            <a:r>
              <a:t>Merge by common key:</a:t>
            </a:r>
          </a:p>
          <a:p>
            <a:r>
              <a:t>merge(df1, df2, by='id')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 u="sng"/>
              <a:t>Sampling for Modeling and Validation in R</a:t>
            </a:r>
            <a:endParaRPr lang="en-US" altLang="en-US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r>
              <a:rPr lang="en-US" altLang="en-US"/>
              <a:t>Sampling is the process of selecting a subset of data from a full dataset for the purpose of training and evaluating models.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In predictive modeling, we usually split data into:</a:t>
            </a: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Training Set – to build the model</a:t>
            </a: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Testing Set – to evaluate the model's performance</a:t>
            </a: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Sometimes, a Validation Set is also used during model tuning.</a:t>
            </a:r>
            <a:endParaRPr lang="en-US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>
                <a:sym typeface="+mn-ea"/>
              </a:rPr>
              <a:t>sampling uses:</a:t>
            </a: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Prevents overfitting (model memorizing training data)</a:t>
            </a: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Helps evaluate generalization on unseen data</a:t>
            </a: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Allows cross-validation for more reliable metrics</a:t>
            </a:r>
            <a:endParaRPr lang="en-US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Understanding Sampling in Data Science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r>
              <a:rPr lang="en-US" altLang="en-US"/>
              <a:t>What is Sampling?</a:t>
            </a:r>
            <a:endParaRPr lang="en-US" altLang="en-US"/>
          </a:p>
          <a:p>
            <a:r>
              <a:rPr lang="en-US" altLang="en-US"/>
              <a:t>Selecting a subset of the population to represent the whole.</a:t>
            </a:r>
            <a:endParaRPr lang="en-US" altLang="en-US"/>
          </a:p>
          <a:p>
            <a:r>
              <a:rPr lang="en-US" altLang="en-US"/>
              <a:t>Used in analysis, modeling, debugging, and visualization.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Why Sampling Still Matters in the Era of Big Data</a:t>
            </a:r>
            <a:endParaRPr lang="en-US" altLang="en-US"/>
          </a:p>
          <a:p>
            <a:r>
              <a:rPr lang="en-US" altLang="en-US"/>
              <a:t>Even “big data” is typically a sample from a larger universe.</a:t>
            </a:r>
            <a:endParaRPr lang="en-US" altLang="en-US"/>
          </a:p>
          <a:p>
            <a:r>
              <a:rPr lang="en-US" altLang="en-US"/>
              <a:t>Helps in: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1. Faster testing and debugging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2. Efficient visualizations (e.g., faster ggplot)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3. Avoiding overplotting that hides data patterns</a:t>
            </a:r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1470"/>
            <a:ext cx="8229600" cy="5795010"/>
          </a:xfrm>
        </p:spPr>
        <p:txBody>
          <a:bodyPr>
            <a:normAutofit fontScale="80000"/>
          </a:bodyPr>
          <a:p>
            <a:pPr marL="0" indent="0">
              <a:buNone/>
            </a:pPr>
            <a:r>
              <a:rPr lang="en-US" altLang="en-US"/>
              <a:t>Representativeness Matters</a:t>
            </a:r>
            <a:endParaRPr lang="en-US" altLang="en-US"/>
          </a:p>
          <a:p>
            <a:r>
              <a:rPr lang="en-US" altLang="en-US"/>
              <a:t>A sample should reflect the full population.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Example: Avoid using data from only one state (e.g., Connecticut) if your model is meant to serve all U.S. customers.</a:t>
            </a:r>
            <a:endParaRPr lang="en-US" altLang="en-US"/>
          </a:p>
          <a:p>
            <a:r>
              <a:rPr lang="en-US" altLang="en-US"/>
              <a:t>Geographic or demographic bias can lead to misleading predictions.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/>
              <a:t>Other Uses of Sampling</a:t>
            </a:r>
            <a:endParaRPr lang="en-US" altLang="en-US"/>
          </a:p>
          <a:p>
            <a:r>
              <a:rPr lang="en-US" altLang="en-US"/>
              <a:t>Creating train-test splits for model evaluation.</a:t>
            </a:r>
            <a:endParaRPr lang="en-US" altLang="en-US"/>
          </a:p>
          <a:p>
            <a:r>
              <a:rPr lang="en-US" altLang="en-US"/>
              <a:t>Managing resource constraints during model development.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Sampling and Data Preparation</a:t>
            </a:r>
            <a:br>
              <a:rPr lang="en-US" altLang="en-US"/>
            </a:br>
            <a:r>
              <a:rPr lang="en-US" altLang="en-US">
                <a:sym typeface="+mn-ea"/>
              </a:rPr>
              <a:t>1. Test and Training Splits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Split dataset into: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	1.  Training Set → to fit the model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2. Test Set → to evaluate model performance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r>
              <a:rPr lang="en-US" altLang="en-US"/>
              <a:t>Optional: Calibration Set → for tuning model parameters</a:t>
            </a:r>
            <a:endParaRPr lang="en-US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433070"/>
            <a:ext cx="8229600" cy="610806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799465"/>
          </a:xfrm>
        </p:spPr>
        <p:txBody>
          <a:bodyPr>
            <a:normAutofit fontScale="90000"/>
          </a:bodyPr>
          <a:p>
            <a:r>
              <a:rPr lang="en-US" altLang="en-US"/>
              <a:t>2. Creating a Sample Group Column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Use runif() to assign a random sample group number</a:t>
            </a:r>
            <a:endParaRPr lang="en-US" altLang="en-US"/>
          </a:p>
          <a:p>
            <a:r>
              <a:rPr lang="en-US" altLang="en-US"/>
              <a:t>Split data using a threshold (e.g., &lt; 0.1) to create test and train sets</a:t>
            </a:r>
            <a:endParaRPr lang="en-US" altLang="en-US"/>
          </a:p>
          <a:p>
            <a:r>
              <a:rPr lang="en-US" altLang="en-US"/>
              <a:t>Enables reproducible sampling with set.seed()</a:t>
            </a:r>
            <a:endParaRPr lang="en-US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238885"/>
            <a:ext cx="8229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3. Record Grouping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Avoid splitting related records (e.g., members of the same household)</a:t>
            </a:r>
            <a:endParaRPr lang="en-US" altLang="en-US"/>
          </a:p>
          <a:p>
            <a:r>
              <a:rPr lang="en-US" altLang="en-US"/>
              <a:t>Assign the same group number to all members of a household</a:t>
            </a:r>
            <a:endParaRPr lang="en-US" altLang="en-US"/>
          </a:p>
          <a:p>
            <a:r>
              <a:rPr lang="en-US" altLang="en-US"/>
              <a:t>Helps maintain logical consistency during modeling</a:t>
            </a:r>
            <a:endParaRPr lang="en-US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Content Placeholder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792480"/>
            <a:ext cx="8229600" cy="458533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4. Data Provenance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Add metadata columns for: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1. Data source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2. Collection date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3. Treatment date</a:t>
            </a:r>
            <a:endParaRPr lang="en-US" altLang="en-US"/>
          </a:p>
          <a:p>
            <a:r>
              <a:rPr lang="en-US" altLang="en-US"/>
              <a:t>Helps track when and how data was prepared or updated</a:t>
            </a:r>
            <a:endParaRPr lang="en-US" altLang="en-US"/>
          </a:p>
          <a:p>
            <a:r>
              <a:rPr lang="en-US" altLang="en-US"/>
              <a:t>Useful for version control and model debugging</a:t>
            </a:r>
            <a:endParaRPr lang="en-US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379855"/>
            <a:ext cx="8229600" cy="381825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Common Sampling Techniques in R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1. Random Sampling using sample():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Input: data &lt;- 1:100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sample(data, 10)  # randomly selects 10 values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Output: [1] 34 67 12 78 92 11 3 55 80 25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2.Train-Test Split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Split your data into 70% training and 30% testing.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287020"/>
            <a:ext cx="8229600" cy="622363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Use sample():</a:t>
            </a:r>
          </a:p>
          <a:p>
            <a:r>
              <a:t>sample(df$col, 5)</a:t>
            </a:r>
          </a:p>
          <a:p>
            <a:pPr marL="0" indent="0">
              <a:buNone/>
            </a:pPr>
            <a:r>
              <a:t>With dplyr:</a:t>
            </a:r>
          </a:p>
          <a:p>
            <a:r>
              <a:t>sample_n(df, 5), sample_frac(df, 0.2)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Training/Test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Using index:</a:t>
            </a:r>
          </a:p>
          <a:p>
            <a:r>
              <a:t>train &lt;- df[1:70, ]; test &lt;- df[71:100, ]</a:t>
            </a:r>
          </a:p>
          <a:p>
            <a:r>
              <a:t>Or use sample.split() from caTools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caret package:</a:t>
            </a:r>
          </a:p>
          <a:p>
            <a:r>
              <a:t>createDataPartition(y, p=0.8, list=FALSE)</a:t>
            </a:r>
          </a:p>
          <a:p>
            <a:r>
              <a:t>Helps in model validation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Summary with dplyr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Group and summarise:</a:t>
            </a:r>
          </a:p>
          <a:p>
            <a:r>
              <a:t>df %&gt;% group_by(col) %&gt;% summarise(mean=mean(var), count=n())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 Handling with tidyr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Drop NAs: drop_na()</a:t>
            </a:r>
          </a:p>
          <a:p>
            <a:r>
              <a:t>Replace: replace_na()</a:t>
            </a:r>
          </a:p>
          <a:p>
            <a:r>
              <a:t>Fill: fill(df, col, .direction='down')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hist(), boxplot(), ggplot()</a:t>
            </a:r>
          </a:p>
          <a:p>
            <a:r>
              <a:t>Example:</a:t>
            </a:r>
          </a:p>
          <a:p>
            <a:r>
              <a:t>ggplot(df, aes(x=col)) + geom_histogram()</a:t>
            </a:r>
          </a:p>
          <a:p/>
          <a:p>
            <a:r>
              <a:t>Visual tools help identify patterns and issues quickly.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9292</Words>
  <Application>WPS Presentation</Application>
  <PresentationFormat>On-screen Show (4:3)</PresentationFormat>
  <Paragraphs>326</Paragraphs>
  <Slides>52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Managing Data in R - Part 2</vt:lpstr>
      <vt:lpstr>Table of Contents - Part 2</vt:lpstr>
      <vt:lpstr>Factor Variables</vt:lpstr>
      <vt:lpstr>Renaming Columns</vt:lpstr>
      <vt:lpstr>Filtering Data</vt:lpstr>
      <vt:lpstr>Sorting and Arranging</vt:lpstr>
      <vt:lpstr>Cleaning Data</vt:lpstr>
      <vt:lpstr>Cleaning Data in R</vt:lpstr>
      <vt:lpstr>PowerPoint 演示文稿</vt:lpstr>
      <vt:lpstr>PowerPoint 演示文稿</vt:lpstr>
      <vt:lpstr>Cleaning data</vt:lpstr>
      <vt:lpstr>PowerPoint 演示文稿</vt:lpstr>
      <vt:lpstr>Missing vs. Invalid Values</vt:lpstr>
      <vt:lpstr>PowerPoint 演示文稿</vt:lpstr>
      <vt:lpstr>Domain-specific data cleaning</vt:lpstr>
      <vt:lpstr>PowerPoint 演示文稿</vt:lpstr>
      <vt:lpstr>PowerPoint 演示文稿</vt:lpstr>
      <vt:lpstr>Code:</vt:lpstr>
      <vt:lpstr>Treating Missing Values</vt:lpstr>
      <vt:lpstr>PowerPoint 演示文稿</vt:lpstr>
      <vt:lpstr>Handling Missing Categorical Values</vt:lpstr>
      <vt:lpstr>Handling Missing Numeric or Logical Values</vt:lpstr>
      <vt:lpstr>PowerPoint 演示文稿</vt:lpstr>
      <vt:lpstr>TREATING MISSING VALUES AS INFORMATION</vt:lpstr>
      <vt:lpstr>The vtreat package for automatically treating missing variables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Data Transformation</vt:lpstr>
      <vt:lpstr>Combining Data Frames</vt:lpstr>
      <vt:lpstr>Sampling for Modeling and Validation in R</vt:lpstr>
      <vt:lpstr>Understanding Sampling in Data Science</vt:lpstr>
      <vt:lpstr>PowerPoint 演示文稿</vt:lpstr>
      <vt:lpstr>Sampling and Data Preparation</vt:lpstr>
      <vt:lpstr>PowerPoint 演示文稿</vt:lpstr>
      <vt:lpstr>2. Creating a Sample Group Column</vt:lpstr>
      <vt:lpstr>PowerPoint 演示文稿</vt:lpstr>
      <vt:lpstr>3 Record Grouping</vt:lpstr>
      <vt:lpstr>PowerPoint 演示文稿</vt:lpstr>
      <vt:lpstr>4 Data Provenance</vt:lpstr>
      <vt:lpstr>PowerPoint 演示文稿</vt:lpstr>
      <vt:lpstr>Common Sampling Techniques in R</vt:lpstr>
      <vt:lpstr>PowerPoint 演示文稿</vt:lpstr>
      <vt:lpstr>Sampling Data</vt:lpstr>
      <vt:lpstr>Training/Test Split</vt:lpstr>
      <vt:lpstr>Validation Sets</vt:lpstr>
      <vt:lpstr>Data Summary with dplyr</vt:lpstr>
      <vt:lpstr>NA Handling with tidyr</vt:lpstr>
      <vt:lpstr>Visualization Recap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Ramya sri Munukuntla</cp:lastModifiedBy>
  <cp:revision>5</cp:revision>
  <dcterms:created xsi:type="dcterms:W3CDTF">2013-01-27T09:14:00Z</dcterms:created>
  <dcterms:modified xsi:type="dcterms:W3CDTF">2025-07-29T17:25:49Z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F204E3476F49461C9C71CC2A593CE33E_13</vt:lpwstr>
  </property>
  <property fmtid="{D5CDD505-2E9C-101B-9397-08002B2CF9AE}" pid="3" name="KSOProductBuildVer">
    <vt:lpwstr>1033-12.2.0.21931</vt:lpwstr>
  </property>
</Properties>
</file>