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29.png" ContentType="image/png"/>
  <Override PartName="/ppt/media/image10.png" ContentType="image/png"/>
  <Override PartName="/ppt/media/image5.png" ContentType="image/png"/>
  <Override PartName="/ppt/media/image28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5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66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25.xml" ContentType="application/vnd.openxmlformats-officedocument.presentationml.slide+xml"/>
  <Override PartName="/ppt/slides/slide6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61.xml.rels" ContentType="application/vnd.openxmlformats-package.relationships+xml"/>
  <Override PartName="/ppt/slides/_rels/slide57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58.xml.rels" ContentType="application/vnd.openxmlformats-package.relationships+xml"/>
  <Override PartName="/ppt/slides/_rels/slide65.xml.rels" ContentType="application/vnd.openxmlformats-package.relationships+xml"/>
  <Override PartName="/ppt/slides/_rels/slide13.xml.rels" ContentType="application/vnd.openxmlformats-package.relationships+xml"/>
  <Override PartName="/ppt/slides/_rels/slide55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54.xml.rels" ContentType="application/vnd.openxmlformats-package.relationships+xml"/>
  <Override PartName="/ppt/slides/_rels/slide63.xml.rels" ContentType="application/vnd.openxmlformats-package.relationships+xml"/>
  <Override PartName="/ppt/slides/_rels/slide70.xml.rels" ContentType="application/vnd.openxmlformats-package.relationships+xml"/>
  <Override PartName="/ppt/slides/_rels/slide69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68.xml.rels" ContentType="application/vnd.openxmlformats-package.relationships+xml"/>
  <Override PartName="/ppt/slides/_rels/slide62.xml.rels" ContentType="application/vnd.openxmlformats-package.relationships+xml"/>
  <Override PartName="/ppt/slides/_rels/slide50.xml.rels" ContentType="application/vnd.openxmlformats-package.relationships+xml"/>
  <Override PartName="/ppt/slides/_rels/slide52.xml.rels" ContentType="application/vnd.openxmlformats-package.relationships+xml"/>
  <Override PartName="/ppt/slides/_rels/slide45.xml.rels" ContentType="application/vnd.openxmlformats-package.relationships+xml"/>
  <Override PartName="/ppt/slides/_rels/slide38.xml.rels" ContentType="application/vnd.openxmlformats-package.relationships+xml"/>
  <Override PartName="/ppt/slides/_rels/slide19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39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2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66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67.xml.rels" ContentType="application/vnd.openxmlformats-package.relationships+xml"/>
  <Override PartName="/ppt/slides/_rels/slide71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UNIT-5</a:t>
            </a:r>
            <a:br/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Time Series in R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Calibri"/>
              </a:rPr>
              <a:t>Part-2</a:t>
            </a:r>
            <a:endParaRPr b="0" lang="en-IN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Reading Time Series Data in 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838080" y="1517760"/>
            <a:ext cx="10515240" cy="4659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Why Reading Data is Important?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Before analyzing, we must import data into R in a format that R understands.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Normal numeric vectors are not enough – we need time-aware objects.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R provides special functions: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scan() → reads raw values from file/console.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ts() → converts values into a time series object (with start, end, frequency).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</a:rPr>
              <a:t>as.ts() / is.ts() → convert &amp; check objects.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scan() Function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1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Reads raw numbers from a text file or console into 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Useful for time series stored in plain text.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Syntax: scan(file)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file: name of the text file (e.g., "Attendance.txt").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Returns a numeric vector.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attend &lt;- scan("Attendance.txt")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print(attend)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--If file has: 20 22 25 28 30,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→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Output in R: [1] 20 22 25 28 30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Reading time series data using the scan() function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9" name="Content Placeholder 3" descr=""/>
          <p:cNvPicPr/>
          <p:nvPr/>
        </p:nvPicPr>
        <p:blipFill>
          <a:blip r:embed="rId1"/>
          <a:stretch/>
        </p:blipFill>
        <p:spPr>
          <a:xfrm>
            <a:off x="532080" y="1690920"/>
            <a:ext cx="10821240" cy="4086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ts() Function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838080" y="1690920"/>
            <a:ext cx="10515240" cy="4519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Converts raw data (vector/matrix) into a time series object.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Adds time meaning (start date, frequency).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Syntax: ts(data, start, end, frequency)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data: vector/matrix of values.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start: time of first observation.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end: time of last observation (optional).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frequency: number of observations per time unit.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Common Frequencies: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1 = yearly data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4 = quarterly data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12 = monthly data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Storing time series data using the ts() function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3" name="Content Placeholder 3" descr=""/>
          <p:cNvPicPr/>
          <p:nvPr/>
        </p:nvPicPr>
        <p:blipFill>
          <a:blip r:embed="rId1"/>
          <a:stretch/>
        </p:blipFill>
        <p:spPr>
          <a:xfrm>
            <a:off x="558000" y="1383120"/>
            <a:ext cx="10515960" cy="5121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838080" y="985680"/>
            <a:ext cx="10515240" cy="5191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Example: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 &lt;- ts(attend, start=c(2011,1), frequency=12)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print(t)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--Here: start=c(2011,1) → Jan 2011.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frequency=12 → monthly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Converting and Checking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If you already have a numeric vector, you can still convert: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simple &lt;- c(10, 20, 30, 40)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tseries &lt;- as.ts(simple)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check if an object is time series: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is.ts(tseries)   # TRUE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is.ts(simple)    # FALSE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Complete Example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5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Step 1: Read numeric values from file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 &lt;- scan("Attendance.txt")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Step 2: Create monthly time series starting from Jan 2011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 &lt;- ts(s, start=c(2011,1), frequency=12)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Step 3: Print the time series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print(t)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scan() imports raw numbers.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ts() adds time dimension.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Now t is a time series object ready for plotting, decomposition, forecasting.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Content Placeholder 3" descr=""/>
          <p:cNvPicPr/>
          <p:nvPr/>
        </p:nvPicPr>
        <p:blipFill>
          <a:blip r:embed="rId1"/>
          <a:stretch/>
        </p:blipFill>
        <p:spPr>
          <a:xfrm>
            <a:off x="511200" y="403920"/>
            <a:ext cx="11170080" cy="6049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Why This Step Matters?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838080" y="169092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Raw numbers by themselves do not carry time information.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Time series object allows R to: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--Plot values against actual time.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--Perform decomposition (trend, seasonality).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-- Apply forecasting methods (e.g., ARIMA, Holt-Winters).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Without converting, analysis may be incorrect.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Plotting Time Series Data in 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8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After reading and storing data, the next task is to plot time series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Plotting represents data graphically → easy to understand.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 provides the function: plot.ts(x)---x = time series object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 1: Simple Time Series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Attendance data stored in object 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plot.ts(t)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Object t contains time series data created using ts().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plot shows random fluctuations in attendance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Plotting simple time series data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5" name="Content Placeholder 3" descr=""/>
          <p:cNvPicPr/>
          <p:nvPr/>
        </p:nvPicPr>
        <p:blipFill>
          <a:blip r:embed="rId1"/>
          <a:stretch/>
        </p:blipFill>
        <p:spPr>
          <a:xfrm>
            <a:off x="838080" y="1461240"/>
            <a:ext cx="10309680" cy="4979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Example 2: Attendance Data (Multiple Students)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838080" y="1517760"/>
            <a:ext cx="10515240" cy="49665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8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 &lt;- scan("Attendance.txt")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 &lt;- ts(s, start=c(2011,1), frequency=12)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plot.ts(t)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Object s = attendance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Converted to time series 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plot shows attendance data of students over six months.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key points: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plot.ts() is the best function for plotting time series.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Makes trend, seasonality, and fluctuations visible.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Forms the basis for decomposition &amp; forecasting.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Another example of plot of time series data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9" name="Content Placeholder 3" descr=""/>
          <p:cNvPicPr/>
          <p:nvPr/>
        </p:nvPicPr>
        <p:blipFill>
          <a:blip r:embed="rId1"/>
          <a:stretch/>
        </p:blipFill>
        <p:spPr>
          <a:xfrm>
            <a:off x="739800" y="1809720"/>
            <a:ext cx="10613520" cy="4647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838080" y="29880"/>
            <a:ext cx="10515240" cy="877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Decomposing Time Series Data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838080" y="1153080"/>
            <a:ext cx="10515240" cy="53031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0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Time series changes due to: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1. Seasonal factors (e.g., fruit prices in different seasons)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2. Cyclical movements (e.g., stock prices, business cycles)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3. Irregular events (e.g., political events, natural disasters)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Decomposition = breaking down time series into components for analysis.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Helps to understand hidden structures in data.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Components of Time Series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Trend (T): Long-term growth or decline in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Seasonal (S): Repeating short-term pattern (daily, monthly, yearly)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Cyclical (C): Medium-to-long-term fluctuations (not fixed period)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Irregular/Random (I): Unpredictable variations (accidents, strikes)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4" name="Picture 3" descr=""/>
          <p:cNvPicPr/>
          <p:nvPr/>
        </p:nvPicPr>
        <p:blipFill>
          <a:blip r:embed="rId1"/>
          <a:stretch/>
        </p:blipFill>
        <p:spPr>
          <a:xfrm>
            <a:off x="838080" y="5125320"/>
            <a:ext cx="6278040" cy="1564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Why Do We Decompose?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separate influences on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identify seasonal and trend patterns clearly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prepare data for forecasting methods (Exponential Smoothing, ARIMA, etc.)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detect unusual events (outliers, shocks)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Decomposing Non-Seasonal Data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TextShape 2"/>
          <p:cNvSpPr txBox="1"/>
          <p:nvPr/>
        </p:nvSpPr>
        <p:spPr>
          <a:xfrm>
            <a:off x="669960" y="1402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non-seasonal series has: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Trend (T): Long-term upward/downward movement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Irregular/Random (I): Unpredictable variations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No seasonal or cyclical components.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Example: Monthly sales data without repeating seasonal patterns.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Decomposition method: Simple Moving Average (SMA)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Purpose: Smooth random fluctuations → highlight long-term trend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9" name="Picture 3" descr=""/>
          <p:cNvPicPr/>
          <p:nvPr/>
        </p:nvPicPr>
        <p:blipFill>
          <a:blip r:embed="rId1"/>
          <a:stretch/>
        </p:blipFill>
        <p:spPr>
          <a:xfrm>
            <a:off x="3590640" y="5403960"/>
            <a:ext cx="7314840" cy="1399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fig shows normal plot of time series data before smoothing.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1" name="Content Placeholder 3" descr=""/>
          <p:cNvPicPr/>
          <p:nvPr/>
        </p:nvPicPr>
        <p:blipFill>
          <a:blip r:embed="rId1"/>
          <a:stretch/>
        </p:blipFill>
        <p:spPr>
          <a:xfrm>
            <a:off x="594360" y="1690920"/>
            <a:ext cx="10758600" cy="4708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R Function for Non-Seasonal Decomposition: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TextShape 2"/>
          <p:cNvSpPr txBox="1"/>
          <p:nvPr/>
        </p:nvSpPr>
        <p:spPr>
          <a:xfrm>
            <a:off x="838080" y="148968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R provides SMA() function from package TTR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Syntax: SMA(x, n, …)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x: time series data (e.g., price, volume, attendance)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n: order of moving average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…</a:t>
            </a: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: other options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Larger n → smoother curve → trend extracted more clearly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Example: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38080" y="1461600"/>
            <a:ext cx="10515240" cy="51343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1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from “SA.dat” file → stored in object 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Step 1: Plot original series → random fluctuations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Step 2: Apply SMA with order = 4 → smooth data to estimate trend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Step 3: Plot smoothed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 code: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library(TTR)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&lt;- scan("SA.dat")    # Read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 &lt;- ts(data)             # Create time series object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trend &lt;- SMA(t, n=4)      # Apply SMA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plot(t, main="Original vs Trend")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lines(trend, col="red")   # Add trend line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Fig shows smoothed series after SMA(4).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7" name="Content Placeholder 5" descr=""/>
          <p:cNvPicPr/>
          <p:nvPr/>
        </p:nvPicPr>
        <p:blipFill>
          <a:blip r:embed="rId1"/>
          <a:stretch/>
        </p:blipFill>
        <p:spPr>
          <a:xfrm>
            <a:off x="838080" y="1216080"/>
            <a:ext cx="9770400" cy="5436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Higher Order Smoothing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TextShape 2"/>
          <p:cNvSpPr txBox="1"/>
          <p:nvPr/>
        </p:nvSpPr>
        <p:spPr>
          <a:xfrm>
            <a:off x="838080" y="1349280"/>
            <a:ext cx="10515240" cy="48276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Increasing the order (n) = smoother line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Helps in better estimation of trend by filtering out irregulars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0" name="Picture 3" descr=""/>
          <p:cNvPicPr/>
          <p:nvPr/>
        </p:nvPicPr>
        <p:blipFill>
          <a:blip r:embed="rId1"/>
          <a:stretch/>
        </p:blipFill>
        <p:spPr>
          <a:xfrm>
            <a:off x="1140480" y="2261880"/>
            <a:ext cx="9041400" cy="4595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Key Points: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Non-seasonal decomposition = Trend + Irregular only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SMA is used to separate trend from random noise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Order (n) controls level of smoothing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Useful before applying forecasting models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Decomposing Seasonal Data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TextShape 2"/>
          <p:cNvSpPr txBox="1"/>
          <p:nvPr/>
        </p:nvSpPr>
        <p:spPr>
          <a:xfrm>
            <a:off x="838080" y="146160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 seasonal time series contains: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1. Trend (T) – long-term movement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2. Seasonal (S) – repeating short-term variations (e.g., monthly,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quarterly)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3. Irregular (I) – random effects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Method: Calculate moving average to smooth trend &amp; extract seasonal factor.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" name="Picture 3" descr=""/>
          <p:cNvPicPr/>
          <p:nvPr/>
        </p:nvPicPr>
        <p:blipFill>
          <a:blip r:embed="rId1"/>
          <a:stretch/>
        </p:blipFill>
        <p:spPr>
          <a:xfrm>
            <a:off x="1371600" y="5146200"/>
            <a:ext cx="8240040" cy="1197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decomposition output (attendance data example)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7" name="Content Placeholder 3" descr=""/>
          <p:cNvPicPr/>
          <p:nvPr/>
        </p:nvPicPr>
        <p:blipFill>
          <a:blip r:embed="rId1"/>
          <a:stretch/>
        </p:blipFill>
        <p:spPr>
          <a:xfrm>
            <a:off x="655920" y="1353960"/>
            <a:ext cx="9366480" cy="5185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Functions for Seasonal Decomposition: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decompose() function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Splits into seasonal, trend, irregular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Uses moving averages for smoothing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Syntax: decompose(x, type, …)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x → time series object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type → additive or multiplicative model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graphical plot of all components from decompose()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1" name="Content Placeholder 3" descr=""/>
          <p:cNvPicPr/>
          <p:nvPr/>
        </p:nvPicPr>
        <p:blipFill>
          <a:blip r:embed="rId1"/>
          <a:stretch/>
        </p:blipFill>
        <p:spPr>
          <a:xfrm>
            <a:off x="838080" y="1690920"/>
            <a:ext cx="8876880" cy="4528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Example – Using decompose()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4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&lt;- scan("SA.dat")     # Read attendance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 &lt;- ts(data)              # Create time series object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Apply decomposition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 &lt;- decompose(t)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plot(d)                    # Plot seasonal, trend, irregular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 shows peak in June (+17.63) and lowest in July (-21.86).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Indicates strong seasonal variation in attendance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STL (Seasonal-Trend Decomposition):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stl() function = Seasonal-Trend decomposition using LOESS regression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More flexible than decompose()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Syntax: stl(x, s.window, …)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x → time series object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s.window = “periodic” or odd number ≥ 7 (span for smoothing)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output of stl() function (list of components).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7" name="Content Placeholder 3" descr=""/>
          <p:cNvPicPr/>
          <p:nvPr/>
        </p:nvPicPr>
        <p:blipFill>
          <a:blip r:embed="rId1"/>
          <a:stretch/>
        </p:blipFill>
        <p:spPr>
          <a:xfrm>
            <a:off x="585000" y="1153800"/>
            <a:ext cx="10768680" cy="5413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plot of STL components (trend, seasonal, remainder).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9" name="Content Placeholder 3" descr=""/>
          <p:cNvPicPr/>
          <p:nvPr/>
        </p:nvPicPr>
        <p:blipFill>
          <a:blip r:embed="rId1"/>
          <a:stretch/>
        </p:blipFill>
        <p:spPr>
          <a:xfrm>
            <a:off x="838800" y="1690200"/>
            <a:ext cx="10513800" cy="4784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Key Points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Seasonal decomposition = Trend + Seasonal + Irregular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decompose() → simple, moving average based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stl() → advanced, regression-based (better accuracy)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Useful to detect and quantify seasonality before forecasting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Seasonal Adjustment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Seasonally Adjusted Time Series = Original data without seasonal component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Purpose: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Remove seasonal fluctuations → highlight trend + irregular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Easier to compare data across months/years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Method: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Estimate seasonal component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Subtract it from original time series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56000"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Example of seasonal adjustment using subtraction method (t – d$seasonal).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5" name="Content Placeholder 3" descr=""/>
          <p:cNvPicPr/>
          <p:nvPr/>
        </p:nvPicPr>
        <p:blipFill>
          <a:blip r:embed="rId1"/>
          <a:stretch/>
        </p:blipFill>
        <p:spPr>
          <a:xfrm>
            <a:off x="610920" y="1690920"/>
            <a:ext cx="10916640" cy="4774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838080" y="130680"/>
            <a:ext cx="10515240" cy="8492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Methods of Seasonal Adjustment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838080" y="1166040"/>
            <a:ext cx="10515240" cy="51966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0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Difference Method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Compute seasonal component using decompose()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Subtract from original series: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 &lt;- decompose(t)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adjusted &lt;- t - d$seasonal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plot(adjusted)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Produces seasonally adjusted series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Using seas() function (package seasonal)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Automates seasonal adjustment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Syntax: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library(seasonal)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seas(t)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Seasonally adjusted series using seas().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9" name="Content Placeholder 3" descr=""/>
          <p:cNvPicPr/>
          <p:nvPr/>
        </p:nvPicPr>
        <p:blipFill>
          <a:blip r:embed="rId1"/>
          <a:stretch/>
        </p:blipFill>
        <p:spPr>
          <a:xfrm>
            <a:off x="527760" y="1377360"/>
            <a:ext cx="11294280" cy="4928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838080" y="365040"/>
            <a:ext cx="10515240" cy="8492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Example: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838080" y="1214640"/>
            <a:ext cx="10515240" cy="4962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62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Difference method: removes seasonal peaks/dips → shows smoother trend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seas(): directly generates seasonally adjusted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&lt;- scan("SA.dat")   # Attendance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 &lt;- ts(data)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Method 1: Difference Method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 &lt;- decompose(t)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adjusted &lt;- t - d$seasonal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plot(adjusted, main="Seasonally Adjusted Series (Difference Method)")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Method 2: Using seas()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library(seasonal)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 &lt;- seas(t)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plot(sa, main="Seasonally Adjusted using seas()")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Key Points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Seasonal adjustment removes recurring patterns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Helps reveal true trend in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Two main approaches: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Manual difference method (t – d$seasonal)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Automated seas() function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Essential for business forecasting → avoids misleading seasonal effects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838080" y="365040"/>
            <a:ext cx="10515240" cy="929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Regression Analysis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TextShape 2"/>
          <p:cNvSpPr txBox="1"/>
          <p:nvPr/>
        </p:nvSpPr>
        <p:spPr>
          <a:xfrm>
            <a:off x="838080" y="1454760"/>
            <a:ext cx="10515240" cy="4722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Regression Analysis: Identifies linear relationship between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1.Independent variables (predictors)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Dependent variable (response)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Used in time series to model influence of predictors on outcomes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R, use the lm() function: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lm(formula, data, …)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formula → defines model (response ~ predictors)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→ dataset (vector, data frame, or list)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838080" y="365040"/>
            <a:ext cx="10515240" cy="7171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Example: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838080" y="1082160"/>
            <a:ext cx="10515240" cy="50947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1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Create two vectors: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→ attendance data (independent variable)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 → result data (dependent variable)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Apply linear regression using lm():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&lt;- c(30, 35, 40, 45, 50)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 &lt;- c(55, 60, 65, 70, 75)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model &lt;- lm(r ~ a)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summary(model)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summary() returns coefficient values and significance tests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838080" y="-4248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regression analysis output (coefficients table).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9" name="Content Placeholder 3" descr=""/>
          <p:cNvPicPr/>
          <p:nvPr/>
        </p:nvPicPr>
        <p:blipFill>
          <a:blip r:embed="rId1"/>
          <a:stretch/>
        </p:blipFill>
        <p:spPr>
          <a:xfrm>
            <a:off x="0" y="1045080"/>
            <a:ext cx="11559240" cy="5812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Output Explanation: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Intercept (constant) → baseline value of response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Slope (coefficient) → how much response changes per unit change in predictor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p-value → tests significance of predictor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R² (coefficient of determination) → how well model fits data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Key Points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Regression analysis helps quantify relationships in time series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lm() provides regression model with coefficients and diagnostics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Supports trend estimation and forecasting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Output used to: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1.Test predictor significance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2. Build predictive models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Forecasts Using Exponential Smoothing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TextShape 2"/>
          <p:cNvSpPr txBox="1"/>
          <p:nvPr/>
        </p:nvSpPr>
        <p:spPr>
          <a:xfrm>
            <a:off x="838080" y="1454760"/>
            <a:ext cx="10515240" cy="517248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56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Forecasting → predicts future values based on past observations.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Exponential Smoothing: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Assigns more weight to recent observations, less weight to older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Filters out random noise → makes short-term forecasts.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R: HoltWinters() function:  HoltWinters(x, alpha=NULL, beta=NULL, gamma=NULL, …)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x → time series object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alpha → smoothing parameter for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beta → smoothing parameter for trend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gamma → smoothing parameter for seasonality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Values range 0 to 1: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Near 0 → forecasts depend on less recent observations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Near 1 → forecasts depend more on recent observations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Shape 1"/>
          <p:cNvSpPr txBox="1"/>
          <p:nvPr/>
        </p:nvSpPr>
        <p:spPr>
          <a:xfrm>
            <a:off x="838080" y="365040"/>
            <a:ext cx="10515240" cy="796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1 .Simple Exponential Smoothing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TextShape 2"/>
          <p:cNvSpPr txBox="1"/>
          <p:nvPr/>
        </p:nvSpPr>
        <p:spPr>
          <a:xfrm>
            <a:off x="838080" y="1162080"/>
            <a:ext cx="10515240" cy="50148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1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Estimates only the level of a time series at current point.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Best for data with no trend &amp; no seasonality.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Uses parameter alpha (α).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Works well for short-term predictions.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α close to 1 → forecast depends on recent values.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α close to 0 → forecast depends on older averages.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78" name="Picture 3" descr=""/>
          <p:cNvPicPr/>
          <p:nvPr/>
        </p:nvPicPr>
        <p:blipFill>
          <a:blip r:embed="rId1"/>
          <a:stretch/>
        </p:blipFill>
        <p:spPr>
          <a:xfrm>
            <a:off x="1141560" y="2665080"/>
            <a:ext cx="6783840" cy="1362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1"/>
          <p:cNvSpPr txBox="1"/>
          <p:nvPr/>
        </p:nvSpPr>
        <p:spPr>
          <a:xfrm>
            <a:off x="838080" y="365040"/>
            <a:ext cx="10515240" cy="796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R Example: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TextShape 2"/>
          <p:cNvSpPr txBox="1"/>
          <p:nvPr/>
        </p:nvSpPr>
        <p:spPr>
          <a:xfrm>
            <a:off x="838080" y="1402200"/>
            <a:ext cx="10515240" cy="4774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&lt;- scan("Attendance.txt")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&lt;- ts(data)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Simple exponential smoothing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model &lt;- HoltWinters(a, beta=FALSE, gamma=FALSE)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plot(model)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beta=FALSE, gamma=FALSE → disables trend &amp; seasonality.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Forecast is smoother than original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838080" y="365040"/>
            <a:ext cx="10515240" cy="7171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38000"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shows simple exponential smoothing forecast.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2" name="Content Placeholder 3" descr=""/>
          <p:cNvPicPr/>
          <p:nvPr/>
        </p:nvPicPr>
        <p:blipFill>
          <a:blip r:embed="rId1"/>
          <a:stretch/>
        </p:blipFill>
        <p:spPr>
          <a:xfrm>
            <a:off x="638280" y="1279440"/>
            <a:ext cx="10714680" cy="4914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Shape 1"/>
          <p:cNvSpPr txBox="1"/>
          <p:nvPr/>
        </p:nvSpPr>
        <p:spPr>
          <a:xfrm>
            <a:off x="838080" y="365040"/>
            <a:ext cx="10515240" cy="8492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2 .Holt’s Exponential Smoothing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TextShape 2"/>
          <p:cNvSpPr txBox="1"/>
          <p:nvPr/>
        </p:nvSpPr>
        <p:spPr>
          <a:xfrm>
            <a:off x="838080" y="1214280"/>
            <a:ext cx="10515240" cy="52797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2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Extends simple method by adding trend component.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Best for data with trend but no seasonality.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Uses parameters: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alpha (α) → level 2. beta (β) → trend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&lt;- scan("Attendance.txt")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&lt;- ts(data)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Holt’s method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model &lt;- HoltWinters(a, gamma=FALSE)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plot(model)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gamma=FALSE → disables seasonality.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Output shows both level &amp; slope.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Holt’s exponential smoothing (original vs forecast).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6" name="Content Placeholder 3" descr=""/>
          <p:cNvPicPr/>
          <p:nvPr/>
        </p:nvPicPr>
        <p:blipFill>
          <a:blip r:embed="rId1"/>
          <a:stretch/>
        </p:blipFill>
        <p:spPr>
          <a:xfrm>
            <a:off x="633240" y="1690920"/>
            <a:ext cx="10720440" cy="4839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Key Points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Captures trend changes in data.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α and β near 0 → forecast depends on older data.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α and β near 1 → forecast adapts quickly to recent changes.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3 Holt-Winters Exponential Smoothing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8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Extends Holt’s method by adding seasonality.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Best for data with trend + seasonality.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Uses parameters: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alpha (α) → level  2, beta (β) → trend 3. gamma (γ) → seasonality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Most powerful exponential smoothing method.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Suitable for real-world business data (sales, temperature, demand).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Provides trend + seasonal adjusted forecasts.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R Example: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 Code: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data &lt;- scan("Attendance.txt")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&lt;- ts(data)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# Holt-Winters method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model &lt;- HoltWinters(a)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plot(model)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three parameters used.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Forecast shows trend and repeating seasonal patterns.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Holt-Winters exponential smoothing plot.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4" name="Content Placeholder 3" descr=""/>
          <p:cNvPicPr/>
          <p:nvPr/>
        </p:nvPicPr>
        <p:blipFill>
          <a:blip r:embed="rId1"/>
          <a:stretch/>
        </p:blipFill>
        <p:spPr>
          <a:xfrm>
            <a:off x="714240" y="1492920"/>
            <a:ext cx="11043000" cy="4962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 Light"/>
              </a:rPr>
              <a:t>ARIMA Models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TextShape 2"/>
          <p:cNvSpPr txBox="1"/>
          <p:nvPr/>
        </p:nvSpPr>
        <p:spPr>
          <a:xfrm>
            <a:off x="838080" y="1690920"/>
            <a:ext cx="10515240" cy="474768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4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ARIMA = Autoregressive Integrated Moving Average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Used for time series forecasting when data shows patterns but also randomness.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Breaks into 3 parts: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1, AR (p): Autoregressive part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Current value depends on its own past values.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I (d): Integrated part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Differencing used to make series stationary.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3. MA (q): Moving Average part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Current value depends on past forecast errors.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Example: Predicting stock prices, sales, rainfall using past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838080" y="662400"/>
            <a:ext cx="10515240" cy="5514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General form: ARIMA(p, d, q)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Best for stationary time series (mean &amp; variance constant over time).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Steps in ARIMA modeling: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1. Differencing a time series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2. Selecting candidate ARIMA model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3. Forecasting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4. Analysis of ACF &amp; PACF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5. Diagnostic checking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Shape 1"/>
          <p:cNvSpPr txBox="1"/>
          <p:nvPr/>
        </p:nvSpPr>
        <p:spPr>
          <a:xfrm>
            <a:off x="838080" y="449640"/>
            <a:ext cx="10515240" cy="5727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6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What is Stationarity?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A stationary series has: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1. Constant mean (average does not change over time)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2. Constant variance (fluctuations are stable)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3. No seasonality (no repeating cycles)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Why needed?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ARIMA assumes stationary data for reliable forecasting.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If data is not stationary → apply differencing.</a:t>
            </a:r>
            <a:endParaRPr b="0" lang="en-US" sz="36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1. Differencing a Time Series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4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Differencing = subtracting consecutive values to remove trend/seasonality.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R: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diff(x, differences=1)   # 1st order difference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diff(x, differences=2)   # 2nd order difference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Continue differencing until series looks stationary.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1" name="Picture 3" descr=""/>
          <p:cNvPicPr/>
          <p:nvPr/>
        </p:nvPicPr>
        <p:blipFill>
          <a:blip r:embed="rId1"/>
          <a:stretch/>
        </p:blipFill>
        <p:spPr>
          <a:xfrm>
            <a:off x="1108080" y="2641680"/>
            <a:ext cx="5939280" cy="1371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Shape 1"/>
          <p:cNvSpPr txBox="1"/>
          <p:nvPr/>
        </p:nvSpPr>
        <p:spPr>
          <a:xfrm>
            <a:off x="242640" y="365040"/>
            <a:ext cx="11111040" cy="13255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Shows stationary series after differencing order = 2.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3" name="Content Placeholder 3" descr=""/>
          <p:cNvPicPr/>
          <p:nvPr/>
        </p:nvPicPr>
        <p:blipFill>
          <a:blip r:embed="rId1"/>
          <a:stretch/>
        </p:blipFill>
        <p:spPr>
          <a:xfrm>
            <a:off x="241920" y="1528920"/>
            <a:ext cx="11389680" cy="5019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838080" y="365040"/>
            <a:ext cx="10515240" cy="8748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2. Selecting Candidate ARIMA Model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TextShape 2"/>
          <p:cNvSpPr txBox="1"/>
          <p:nvPr/>
        </p:nvSpPr>
        <p:spPr>
          <a:xfrm>
            <a:off x="838080" y="1239480"/>
            <a:ext cx="10515240" cy="49374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5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After differencing, we must find best values for p and q.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Tools: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ACF (Autocorrelation Function):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Shows correlation of series with its past values.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Helps decide q (MA order).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PACF (Partial Autocorrelation Function):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Shows direct correlation with past values.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Helps decide p (AR order).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 Functions: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acf(series)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pacf(series)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Figure--ACF plot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7" name="Content Placeholder 3" descr=""/>
          <p:cNvPicPr/>
          <p:nvPr/>
        </p:nvPicPr>
        <p:blipFill>
          <a:blip r:embed="rId1"/>
          <a:stretch/>
        </p:blipFill>
        <p:spPr>
          <a:xfrm>
            <a:off x="621000" y="1473840"/>
            <a:ext cx="11185920" cy="5132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Figure--PACF plot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9" name="Content Placeholder 3" descr=""/>
          <p:cNvPicPr/>
          <p:nvPr/>
        </p:nvPicPr>
        <p:blipFill>
          <a:blip r:embed="rId1"/>
          <a:stretch/>
        </p:blipFill>
        <p:spPr>
          <a:xfrm>
            <a:off x="838080" y="1320840"/>
            <a:ext cx="10834560" cy="5229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Example – Model Selection: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Suppose ACF shows 1 significant spike → suggests MA(1).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Suppose PACF shows 2 significant spikes → suggests AR(2).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If differencing order = 1 → ARIMA(2,1,1).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Alternatively, use: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library(forecast)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auto.arima(series)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automatically selects the best (p, d, q).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3. Forecasting with ARIMA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Once (p, d, q) chosen → fit ARIMA model.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R: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model &lt;- arima(series, order=c(p,d,q))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forecast(model)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Example: ARIMA(0,2,1) → fitted for attendance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Produces forecast values with confidence intervals.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Forecast plot using ARIMA model.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5" name="Content Placeholder 3" descr=""/>
          <p:cNvPicPr/>
          <p:nvPr/>
        </p:nvPicPr>
        <p:blipFill>
          <a:blip r:embed="rId1"/>
          <a:stretch/>
        </p:blipFill>
        <p:spPr>
          <a:xfrm>
            <a:off x="438840" y="1306080"/>
            <a:ext cx="11152800" cy="5229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4. Analyzing ACF &amp; PACF (Simulation)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After fitting → simulate to check model assumptions.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 arima.sim() in R: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sim &lt;- arima.sim(model=list(ar=0.7, ma=0.3), n=100)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plot(sim)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Helps validate AR &amp; MA terms used in the model.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>
          <a:xfrm>
            <a:off x="25596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Simulation plot of ARIMA(p,d,q).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19" name="Content Placeholder 3" descr=""/>
          <p:cNvPicPr/>
          <p:nvPr/>
        </p:nvPicPr>
        <p:blipFill>
          <a:blip r:embed="rId1"/>
          <a:stretch/>
        </p:blipFill>
        <p:spPr>
          <a:xfrm>
            <a:off x="255960" y="1690920"/>
            <a:ext cx="11935800" cy="4778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5. Diagnostic Checking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4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Goal → ensure model is a good fit.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Check residuals (errors).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R: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tsdiag(model)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Outputs 3 diagnostic plots: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1. Standardized residuals → should look random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2. ACF of residuals → should show no significant spikes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3. Ljung-Box test → checks randomness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Diagnostic checking plots.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3" name="Content Placeholder 3" descr=""/>
          <p:cNvPicPr/>
          <p:nvPr/>
        </p:nvPicPr>
        <p:blipFill>
          <a:blip r:embed="rId1"/>
          <a:stretch/>
        </p:blipFill>
        <p:spPr>
          <a:xfrm>
            <a:off x="208440" y="1346760"/>
            <a:ext cx="11145240" cy="5236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Key Points: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TextShape 2"/>
          <p:cNvSpPr txBox="1"/>
          <p:nvPr/>
        </p:nvSpPr>
        <p:spPr>
          <a:xfrm>
            <a:off x="838080" y="1691640"/>
            <a:ext cx="10515240" cy="4485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1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ARIMA(p,d,q) is powerful for forecasting non-seasonal, stationary series.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Steps to apply ARIMA: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Make series stationary (differencing).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 ACF &amp; PACF to choose p &amp; q.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Fit ARIMA model.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Forecast future values.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Perform diagnostic checking.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---Useful in finance, economics, demand forecasting, climate studies.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LibreOffice/6.4.7.2$Linux_X86_64 LibreOffice_project/40$Build-2</Application>
  <Words>14821</Words>
  <Paragraphs>554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  <dc:creator/>
  <dc:description/>
  <dc:language>en-IN</dc:language>
  <cp:lastModifiedBy/>
  <dcterms:modified xsi:type="dcterms:W3CDTF">2026-09-18T10:36:22Z</dcterms:modified>
  <cp:revision>5</cp:revision>
  <dc:subject/>
  <dc:title>WPS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ICV">
    <vt:lpwstr>6EE1F70650D64E72ADDF17C376576F5B_11</vt:lpwstr>
  </property>
  <property fmtid="{D5CDD505-2E9C-101B-9397-08002B2CF9AE}" pid="6" name="KSOProductBuildVer">
    <vt:lpwstr>1033-12.2.0.22549</vt:lpwstr>
  </property>
  <property fmtid="{D5CDD505-2E9C-101B-9397-08002B2CF9AE}" pid="7" name="LinksUpToDate">
    <vt:bool>0</vt:bool>
  </property>
  <property fmtid="{D5CDD505-2E9C-101B-9397-08002B2CF9AE}" pid="8" name="MMClips">
    <vt:i4>0</vt:i4>
  </property>
  <property fmtid="{D5CDD505-2E9C-101B-9397-08002B2CF9AE}" pid="9" name="Notes">
    <vt:i4>0</vt:i4>
  </property>
  <property fmtid="{D5CDD505-2E9C-101B-9397-08002B2CF9AE}" pid="10" name="PresentationFormat">
    <vt:lpwstr>Widescreen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71</vt:i4>
  </property>
</Properties>
</file>